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9" r:id="rId5"/>
    <p:sldId id="258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4B797-6F7F-45AB-A771-CD64CF06F172}" type="datetimeFigureOut">
              <a:rPr lang="en-US" smtClean="0"/>
              <a:t>1/7/2023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031E4-AF13-469F-9332-BA8B0964E5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Tableau Terminology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32258" y="0"/>
            <a:ext cx="9257159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142984"/>
            <a:ext cx="9001156" cy="4525963"/>
          </a:xfrm>
        </p:spPr>
        <p:txBody>
          <a:bodyPr>
            <a:normAutofit/>
          </a:bodyPr>
          <a:lstStyle/>
          <a:p>
            <a:pPr algn="just"/>
            <a:r>
              <a:rPr lang="en-US" sz="2000" b="1" i="1" dirty="0" smtClean="0"/>
              <a:t>1. Data </a:t>
            </a:r>
            <a:r>
              <a:rPr lang="en-US" sz="2000" b="1" i="1" dirty="0"/>
              <a:t>Sources: </a:t>
            </a:r>
            <a:r>
              <a:rPr lang="en-US" sz="2000" i="1" dirty="0"/>
              <a:t>Displays all of the data connections in the workbook. </a:t>
            </a:r>
            <a:endParaRPr lang="en-US" sz="2000" i="1" dirty="0" smtClean="0"/>
          </a:p>
          <a:p>
            <a:pPr lvl="1" algn="just"/>
            <a:r>
              <a:rPr lang="en-US" sz="1600" i="1" dirty="0" smtClean="0"/>
              <a:t>Note that </a:t>
            </a:r>
            <a:r>
              <a:rPr lang="en-US" sz="1600" dirty="0" smtClean="0"/>
              <a:t>only </a:t>
            </a:r>
            <a:r>
              <a:rPr lang="en-US" sz="1600" dirty="0"/>
              <a:t>one data connection (Sample – Superstore) is being displayed in this </a:t>
            </a:r>
            <a:r>
              <a:rPr lang="en-US" sz="1600" dirty="0" smtClean="0"/>
              <a:t>example, but </a:t>
            </a:r>
            <a:r>
              <a:rPr lang="en-US" sz="1600" dirty="0"/>
              <a:t>you can connect to more than one data source at a </a:t>
            </a:r>
            <a:r>
              <a:rPr lang="en-US" sz="1600" dirty="0" smtClean="0"/>
              <a:t>time.</a:t>
            </a: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214555"/>
            <a:ext cx="8763000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500042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IN" b="1" i="1" dirty="0"/>
              <a:t>2</a:t>
            </a:r>
            <a:r>
              <a:rPr lang="en-IN" b="1" i="1" dirty="0" smtClean="0"/>
              <a:t>. </a:t>
            </a:r>
            <a:r>
              <a:rPr lang="en-US" b="1" i="1" dirty="0" smtClean="0"/>
              <a:t>Measures area of the Data pane: </a:t>
            </a:r>
            <a:r>
              <a:rPr lang="en-US" sz="3100" i="1" dirty="0" smtClean="0"/>
              <a:t>A list of all the fields in the data source classified </a:t>
            </a:r>
            <a:r>
              <a:rPr lang="en-US" sz="3100" dirty="0" smtClean="0"/>
              <a:t>as measures</a:t>
            </a:r>
          </a:p>
          <a:p>
            <a:pPr algn="just"/>
            <a:r>
              <a:rPr lang="en-US" sz="3100" dirty="0" smtClean="0"/>
              <a:t>A measure is a field that is a dependent variable; that is, its value is a function of one or more dimensions.</a:t>
            </a:r>
          </a:p>
          <a:p>
            <a:pPr algn="just"/>
            <a:r>
              <a:rPr lang="en-US" sz="3100" dirty="0" smtClean="0"/>
              <a:t> Tableau treats any field containing </a:t>
            </a:r>
            <a:r>
              <a:rPr lang="en-US" sz="3100" b="1" dirty="0" smtClean="0">
                <a:solidFill>
                  <a:srgbClr val="00B050"/>
                </a:solidFill>
              </a:rPr>
              <a:t>numeric (quantitative) information</a:t>
            </a:r>
            <a:r>
              <a:rPr lang="en-US" sz="3100" dirty="0" smtClean="0"/>
              <a:t> as a measure.</a:t>
            </a:r>
          </a:p>
          <a:p>
            <a:pPr algn="just"/>
            <a:r>
              <a:rPr lang="en-US" sz="3100" dirty="0" smtClean="0"/>
              <a:t>A variable from the dataset that is meant to be aggregated. (This means it should be a number that it makes sense to do math with: sum, average, and so on.) </a:t>
            </a:r>
          </a:p>
          <a:p>
            <a:pPr algn="just"/>
            <a:r>
              <a:rPr lang="en-US" sz="3100" dirty="0" smtClean="0"/>
              <a:t>Measures are often </a:t>
            </a:r>
            <a:r>
              <a:rPr lang="en-US" sz="3100" b="1" dirty="0" smtClean="0">
                <a:solidFill>
                  <a:srgbClr val="00B050"/>
                </a:solidFill>
              </a:rPr>
              <a:t>continuous data</a:t>
            </a:r>
            <a:r>
              <a:rPr lang="en-US" sz="3100" dirty="0" smtClean="0"/>
              <a:t>. </a:t>
            </a:r>
          </a:p>
          <a:p>
            <a:pPr algn="just"/>
            <a:r>
              <a:rPr lang="en-US" sz="3100" dirty="0" smtClean="0"/>
              <a:t>Examples include GPA, sales, quantity, quota, height, and salary. When a measure is pulled into your sheet, it takes the form of a green pill.</a:t>
            </a:r>
            <a:endParaRPr lang="en-US" sz="3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4643446"/>
            <a:ext cx="72390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868" y="5200650"/>
            <a:ext cx="480060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785794"/>
            <a:ext cx="8501122" cy="5857916"/>
          </a:xfrm>
        </p:spPr>
        <p:txBody>
          <a:bodyPr/>
          <a:lstStyle/>
          <a:p>
            <a:pPr algn="just"/>
            <a:r>
              <a:rPr lang="en-IN" sz="2800" b="1" i="1" dirty="0"/>
              <a:t>3</a:t>
            </a:r>
            <a:r>
              <a:rPr lang="en-IN" sz="2800" b="1" i="1" dirty="0" smtClean="0"/>
              <a:t>. </a:t>
            </a:r>
            <a:r>
              <a:rPr lang="en-US" sz="2800" b="1" i="1" dirty="0" smtClean="0"/>
              <a:t>Dimensions area of the Data pane: </a:t>
            </a:r>
            <a:r>
              <a:rPr lang="en-US" sz="2800" i="1" dirty="0" smtClean="0"/>
              <a:t>A list of all of the fields in the data source classified as dimensions.</a:t>
            </a:r>
          </a:p>
          <a:p>
            <a:pPr algn="just"/>
            <a:r>
              <a:rPr lang="en-US" sz="2800" dirty="0" smtClean="0"/>
              <a:t>A categorical variable from the dataset that is used to slice and dice the data into different categories. </a:t>
            </a:r>
          </a:p>
          <a:p>
            <a:pPr algn="just"/>
            <a:r>
              <a:rPr lang="en-US" sz="2800" dirty="0" smtClean="0"/>
              <a:t>Dimensions are often </a:t>
            </a:r>
            <a:r>
              <a:rPr lang="en-US" sz="2800" b="1" dirty="0" smtClean="0">
                <a:solidFill>
                  <a:srgbClr val="00B050"/>
                </a:solidFill>
              </a:rPr>
              <a:t>discrete data.</a:t>
            </a:r>
          </a:p>
          <a:p>
            <a:pPr algn="just"/>
            <a:r>
              <a:rPr lang="en-US" sz="2800" dirty="0" smtClean="0"/>
              <a:t> Examples include country, gender, student ID, and name. When a dimension is pulled into your sheet, it takes the form of a blue pill.</a:t>
            </a:r>
            <a:endParaRPr lang="en-US" sz="2800" i="1" dirty="0" smtClean="0"/>
          </a:p>
          <a:p>
            <a:endParaRPr lang="en-US" i="1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786322"/>
            <a:ext cx="73818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US" b="1" i="1" dirty="0" smtClean="0"/>
              <a:t>4. Sets </a:t>
            </a:r>
            <a:r>
              <a:rPr lang="en-US" b="1" i="1" dirty="0"/>
              <a:t>area of the Data pane: </a:t>
            </a:r>
            <a:r>
              <a:rPr lang="en-US" i="1" dirty="0"/>
              <a:t>If the data source you are using contains at least </a:t>
            </a:r>
            <a:r>
              <a:rPr lang="en-US" i="1" dirty="0" smtClean="0"/>
              <a:t>one </a:t>
            </a:r>
            <a:r>
              <a:rPr lang="en-US" dirty="0" smtClean="0"/>
              <a:t>set</a:t>
            </a:r>
            <a:r>
              <a:rPr lang="en-US" dirty="0"/>
              <a:t>, or if you have created one or more sets, they will show up here</a:t>
            </a:r>
            <a:r>
              <a:rPr lang="en-US" dirty="0" smtClean="0"/>
              <a:t>.</a:t>
            </a:r>
          </a:p>
          <a:p>
            <a:r>
              <a:rPr lang="en-US" dirty="0"/>
              <a:t>Sets in Tableau are used to create subsets of data based on certain conditions defined by the user.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a set can be created for having a subset data of top 10 customers with the highest sales.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i="1" dirty="0" smtClean="0"/>
              <a:t>5. Parameters </a:t>
            </a:r>
            <a:r>
              <a:rPr lang="en-US" i="1" dirty="0"/>
              <a:t>area of the Data pane: If the workbook you are using contains at </a:t>
            </a:r>
            <a:r>
              <a:rPr lang="en-US" i="1" dirty="0" smtClean="0"/>
              <a:t>least </a:t>
            </a:r>
            <a:r>
              <a:rPr lang="en-US" dirty="0" smtClean="0"/>
              <a:t>one </a:t>
            </a:r>
            <a:r>
              <a:rPr lang="en-US" dirty="0"/>
              <a:t>parameter, or if you have created one or more parameters, they will show </a:t>
            </a:r>
            <a:r>
              <a:rPr lang="en-US" dirty="0" smtClean="0"/>
              <a:t>up here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smtClean="0"/>
              <a:t>6. Pages </a:t>
            </a:r>
            <a:r>
              <a:rPr lang="en-US" b="1" i="1" dirty="0"/>
              <a:t>Shelf: </a:t>
            </a:r>
            <a:r>
              <a:rPr lang="en-US" i="1" dirty="0"/>
              <a:t>The Pages Shelf allows you to “flip” through a “page” for each </a:t>
            </a:r>
            <a:r>
              <a:rPr lang="en-US" i="1" dirty="0" smtClean="0"/>
              <a:t>dimension </a:t>
            </a:r>
            <a:r>
              <a:rPr lang="en-US" dirty="0" smtClean="0"/>
              <a:t>member </a:t>
            </a:r>
            <a:r>
              <a:rPr lang="en-US" dirty="0"/>
              <a:t>and/or add animation to a view.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you can put a </a:t>
            </a:r>
            <a:r>
              <a:rPr lang="en-US" dirty="0" smtClean="0"/>
              <a:t>dimension for </a:t>
            </a:r>
            <a:r>
              <a:rPr lang="en-US" dirty="0"/>
              <a:t>Month of Order Date onto the Pages Shelf and have the view </a:t>
            </a:r>
            <a:r>
              <a:rPr lang="en-US" dirty="0" smtClean="0"/>
              <a:t>rotate through </a:t>
            </a:r>
            <a:r>
              <a:rPr lang="en-US" dirty="0"/>
              <a:t>one month of data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456</Words>
  <Application>Microsoft Office PowerPoint</Application>
  <PresentationFormat>On-screen Show (4:3)</PresentationFormat>
  <Paragraphs>25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Tableau Terminology</vt:lpstr>
      <vt:lpstr>Slide 2</vt:lpstr>
      <vt:lpstr>Tableau Terminology</vt:lpstr>
      <vt:lpstr>Tableau Terminology</vt:lpstr>
      <vt:lpstr>Tableau Terminology</vt:lpstr>
      <vt:lpstr>Tableau Terminology</vt:lpstr>
      <vt:lpstr>Tableau Terminology</vt:lpstr>
      <vt:lpstr>Tableau Terminology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AI&amp;DS</cp:lastModifiedBy>
  <cp:revision>21</cp:revision>
  <dcterms:created xsi:type="dcterms:W3CDTF">2023-01-07T03:41:34Z</dcterms:created>
  <dcterms:modified xsi:type="dcterms:W3CDTF">2023-01-07T06:22:51Z</dcterms:modified>
</cp:coreProperties>
</file>