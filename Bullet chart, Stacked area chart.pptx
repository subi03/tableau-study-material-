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authors.xml" ContentType="application/vnd.ms-powerpoint.author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2"/>
  </p:notesMasterIdLst>
  <p:sldIdLst>
    <p:sldId id="306" r:id="rId5"/>
    <p:sldId id="308" r:id="rId6"/>
    <p:sldId id="315" r:id="rId7"/>
    <p:sldId id="317" r:id="rId8"/>
    <p:sldId id="314" r:id="rId9"/>
    <p:sldId id="316" r:id="rId10"/>
    <p:sldId id="31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987" autoAdjust="0"/>
    <p:restoredTop sz="84967" autoAdjust="0"/>
  </p:normalViewPr>
  <p:slideViewPr>
    <p:cSldViewPr snapToGrid="0">
      <p:cViewPr varScale="1">
        <p:scale>
          <a:sx n="86" d="100"/>
          <a:sy n="86" d="100"/>
        </p:scale>
        <p:origin x="-564" y="-96"/>
      </p:cViewPr>
      <p:guideLst>
        <p:guide orient="horz" pos="1392"/>
        <p:guide orient="horz" pos="3168"/>
        <p:guide pos="70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pPr/>
              <a:t>3/8/2023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</p:spPr>
        <p:txBody>
          <a:bodyPr anchor="b"/>
          <a:lstStyle>
            <a:lvl1pPr algn="l">
              <a:defRPr sz="5400" b="1" i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1848" y="4700016"/>
            <a:ext cx="5093208" cy="1197864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phic 12">
            <a:extLst>
              <a:ext uri="{FF2B5EF4-FFF2-40B4-BE49-F238E27FC236}">
                <a16:creationId xmlns:a16="http://schemas.microsoft.com/office/drawing/2014/main" xmlns="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Graphic 13">
            <a:extLst>
              <a:ext uri="{FF2B5EF4-FFF2-40B4-BE49-F238E27FC236}">
                <a16:creationId xmlns:a16="http://schemas.microsoft.com/office/drawing/2014/main" xmlns="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xmlns="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xmlns="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xmlns="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3118104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xmlns="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xmlns="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xmlns="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10">
            <a:extLst>
              <a:ext uri="{FF2B5EF4-FFF2-40B4-BE49-F238E27FC236}">
                <a16:creationId xmlns:a16="http://schemas.microsoft.com/office/drawing/2014/main" xmlns="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1">
            <a:extLst>
              <a:ext uri="{FF2B5EF4-FFF2-40B4-BE49-F238E27FC236}">
                <a16:creationId xmlns:a16="http://schemas.microsoft.com/office/drawing/2014/main" xmlns="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</p:spPr>
        <p:txBody>
          <a:bodyPr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Graphic 12">
            <a:extLst>
              <a:ext uri="{FF2B5EF4-FFF2-40B4-BE49-F238E27FC236}">
                <a16:creationId xmlns:a16="http://schemas.microsoft.com/office/drawing/2014/main" xmlns="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13">
            <a:extLst>
              <a:ext uri="{FF2B5EF4-FFF2-40B4-BE49-F238E27FC236}">
                <a16:creationId xmlns:a16="http://schemas.microsoft.com/office/drawing/2014/main" xmlns="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15">
            <a:extLst>
              <a:ext uri="{FF2B5EF4-FFF2-40B4-BE49-F238E27FC236}">
                <a16:creationId xmlns:a16="http://schemas.microsoft.com/office/drawing/2014/main" xmlns="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22">
            <a:extLst>
              <a:ext uri="{FF2B5EF4-FFF2-40B4-BE49-F238E27FC236}">
                <a16:creationId xmlns:a16="http://schemas.microsoft.com/office/drawing/2014/main" xmlns="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xmlns="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23">
            <a:extLst>
              <a:ext uri="{FF2B5EF4-FFF2-40B4-BE49-F238E27FC236}">
                <a16:creationId xmlns:a16="http://schemas.microsoft.com/office/drawing/2014/main" xmlns="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/>
          <a:lstStyle>
            <a:lvl1pPr>
              <a:defRPr sz="5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825625"/>
            <a:ext cx="10771632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Graphic 22">
            <a:extLst>
              <a:ext uri="{FF2B5EF4-FFF2-40B4-BE49-F238E27FC236}">
                <a16:creationId xmlns:a16="http://schemas.microsoft.com/office/drawing/2014/main" xmlns="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3">
            <a:extLst>
              <a:ext uri="{FF2B5EF4-FFF2-40B4-BE49-F238E27FC236}">
                <a16:creationId xmlns:a16="http://schemas.microsoft.com/office/drawing/2014/main" xmlns="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4752" y="1825625"/>
            <a:ext cx="4553712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848" y="1825625"/>
            <a:ext cx="4553712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aphic 15">
            <a:extLst>
              <a:ext uri="{FF2B5EF4-FFF2-40B4-BE49-F238E27FC236}">
                <a16:creationId xmlns:a16="http://schemas.microsoft.com/office/drawing/2014/main" xmlns="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16">
            <a:extLst>
              <a:ext uri="{FF2B5EF4-FFF2-40B4-BE49-F238E27FC236}">
                <a16:creationId xmlns:a16="http://schemas.microsoft.com/office/drawing/2014/main" xmlns="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4">
            <a:extLst>
              <a:ext uri="{FF2B5EF4-FFF2-40B4-BE49-F238E27FC236}">
                <a16:creationId xmlns:a16="http://schemas.microsoft.com/office/drawing/2014/main" xmlns="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4553712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4848" y="1681163"/>
            <a:ext cx="45537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4848" y="2505075"/>
            <a:ext cx="4553712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xmlns="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xmlns="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xmlns="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83480" y="1681163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83480" y="2505075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xmlns="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xmlns="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xmlns="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xmlns="" id="{2D693B15-7265-4478-9579-62FCD5222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31352" y="1769269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xmlns="" id="{48F9E92F-BB16-4896-A47F-6497C3D705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31352" y="2593181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anchor="b"/>
          <a:lstStyle>
            <a:lvl1pPr algn="l">
              <a:defRPr sz="5400" b="0" i="0" cap="none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xmlns="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xmlns="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xmlns="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xmlns="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xmlns="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Graphic 32">
            <a:extLst>
              <a:ext uri="{FF2B5EF4-FFF2-40B4-BE49-F238E27FC236}">
                <a16:creationId xmlns:a16="http://schemas.microsoft.com/office/drawing/2014/main" xmlns="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xmlns="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31">
            <a:extLst>
              <a:ext uri="{FF2B5EF4-FFF2-40B4-BE49-F238E27FC236}">
                <a16:creationId xmlns:a16="http://schemas.microsoft.com/office/drawing/2014/main" xmlns="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xmlns="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0" y="3127248"/>
            <a:ext cx="5276088" cy="112471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elp.tableau.com/current/pro/desktop/en-us/qs_bullet_graphs.htm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help.tableau.com/current/pro/desktop/en-us/qs_area_charts.htm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Bullet graph</a:t>
            </a:r>
          </a:p>
        </p:txBody>
      </p:sp>
    </p:spTree>
    <p:extLst>
      <p:ext uri="{BB962C8B-B14F-4D97-AF65-F5344CB8AC3E}">
        <p14:creationId xmlns:p14="http://schemas.microsoft.com/office/powerpoint/2010/main" xmlns="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0115FF41-AFA4-4D25-AB42-AB034F4B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Introduction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0881FA9-F3B0-4912-B0E1-352094195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333333"/>
                </a:solidFill>
                <a:effectLst/>
                <a:latin typeface="Benton Sans Book"/>
              </a:rPr>
              <a:t>A </a:t>
            </a:r>
            <a:r>
              <a:rPr lang="en-US" b="1" i="0" dirty="0">
                <a:solidFill>
                  <a:srgbClr val="333333"/>
                </a:solidFill>
                <a:effectLst/>
                <a:latin typeface="Benton Sans Book"/>
              </a:rPr>
              <a:t>bullet graph </a:t>
            </a:r>
            <a:r>
              <a:rPr lang="en-US" b="0" i="0" dirty="0">
                <a:solidFill>
                  <a:srgbClr val="333333"/>
                </a:solidFill>
                <a:effectLst/>
                <a:latin typeface="Benton Sans Book"/>
              </a:rPr>
              <a:t>is a bar marked with extra encodings to show progress towards a goal or performance against a reference line. 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333333"/>
                </a:solidFill>
                <a:effectLst/>
                <a:latin typeface="Benton Sans Book"/>
              </a:rPr>
              <a:t>A </a:t>
            </a:r>
            <a:r>
              <a:rPr lang="en-US" b="1" i="0" dirty="0">
                <a:solidFill>
                  <a:srgbClr val="333333"/>
                </a:solidFill>
                <a:effectLst/>
                <a:latin typeface="Benton Sans Book"/>
              </a:rPr>
              <a:t>reference line</a:t>
            </a:r>
            <a:r>
              <a:rPr lang="en-US" b="0" i="0" dirty="0">
                <a:solidFill>
                  <a:srgbClr val="333333"/>
                </a:solidFill>
                <a:effectLst/>
                <a:latin typeface="Benton Sans Book"/>
              </a:rPr>
              <a:t>, denoting a goal or other critical threshold, is set perpendicular to the bar on the axis with the quantitative scale.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333333"/>
                </a:solidFill>
                <a:effectLst/>
                <a:latin typeface="Benton Sans Book"/>
              </a:rPr>
              <a:t>When the main bar passes the reference line the goal has been met or the state has changed.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="" id="{A8C7C3A0-5E78-49C8-B8D4-F3DF62B2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Bullet graph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56AE2454-CE9A-4A6B-AB5A-349E0D96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xmlns="" id="{1FE25C39-7D74-721F-A3B0-308E5F2A8F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1139" r="21139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5334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5173FB16-7912-559F-1CF4-B64FADF62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B314F4E4-EB04-DBD3-7AD7-920C2FA1B7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3024" y="1161535"/>
            <a:ext cx="10505951" cy="484791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EEAB558-59A6-9B87-73FA-F912D54ED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Bullet graph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BDD942D-38C1-CF91-BBD0-2BD92B81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50878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xmlns="" id="{71DAEB12-1C8F-D4C3-7427-FFB9F8A03B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133DA86-5841-FA77-3779-659363E5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hlinkClick r:id="rId2"/>
              </a:rPr>
              <a:t>https://help.tableau.com/current/pro/desktop/en-us/qs_bullet_graphs.htm#:~:text=A%20bullet%20graph%20is%20a,sales%20compared%20to%20estimated%20sales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6985618-2197-3C5D-7154-2A2B37944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Bullet Graph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C3CB4D8-ADB1-051B-8C1E-79B6A5CDA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97163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Stacked Area Chart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CC9D937-B2B6-FD3C-62AD-C9B795CA94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86591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0115FF41-AFA4-4D25-AB42-AB034F4B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Introduction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0881FA9-F3B0-4912-B0E1-352094195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131313"/>
                </a:solidFill>
                <a:effectLst/>
                <a:latin typeface="Red Hat Display"/>
              </a:rPr>
              <a:t>A stacked area chart ‘stacks’ trends on top of each other to illustrate how a part-to-whole distribution is changing over time.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31313"/>
                </a:solidFill>
                <a:latin typeface="Red Hat Display"/>
              </a:rPr>
              <a:t>S</a:t>
            </a:r>
            <a:r>
              <a:rPr lang="en-US" b="0" i="0" dirty="0">
                <a:solidFill>
                  <a:srgbClr val="131313"/>
                </a:solidFill>
                <a:effectLst/>
                <a:latin typeface="Red Hat Display"/>
              </a:rPr>
              <a:t>tacked area charts are an effective way to evaluate distributions.</a:t>
            </a:r>
            <a:endParaRPr lang="en-US" b="0" i="0" dirty="0">
              <a:solidFill>
                <a:srgbClr val="333333"/>
              </a:solidFill>
              <a:effectLst/>
              <a:latin typeface="Benton Sans Book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="" id="{A8C7C3A0-5E78-49C8-B8D4-F3DF62B2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Stacked area chart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56AE2454-CE9A-4A6B-AB5A-349E0D96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xmlns="" id="{26CE35B2-2302-861D-0E99-FB5374FF817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8143" b="18143"/>
          <a:stretch>
            <a:fillRect/>
          </a:stretch>
        </p:blipFill>
        <p:spPr>
          <a:xfrm>
            <a:off x="7451965" y="1665520"/>
            <a:ext cx="4266960" cy="450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53095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xmlns="" id="{B6D31598-F0DD-1ADF-4EBE-F286413CB0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4FD81B6F-AE36-7B3D-A3D7-660BEA7E7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35546EB-FF20-40D3-8367-946034DC4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5496"/>
            <a:ext cx="6190488" cy="334670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hlinkClick r:id="rId2"/>
              </a:rPr>
              <a:t>https://help.tableau.com/current/pro/desktop/en-us/qs_area_charts.htm</a:t>
            </a:r>
            <a:endParaRPr lang="en-IN" dirty="0"/>
          </a:p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540FA84-44E2-D8EF-48C6-4E482E069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Stacked area chart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5D1C54A-D59B-265C-0E38-93BEDB5CA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63699902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radientUnivers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Galaxy presentation</Template>
  <TotalTime>29</TotalTime>
  <Words>91</Words>
  <Application>Microsoft Office PowerPoint</Application>
  <PresentationFormat>Custom</PresentationFormat>
  <Paragraphs>21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GradientUnivers</vt:lpstr>
      <vt:lpstr>Bullet graph</vt:lpstr>
      <vt:lpstr>Introduction</vt:lpstr>
      <vt:lpstr>Slide 3</vt:lpstr>
      <vt:lpstr>Slide 4</vt:lpstr>
      <vt:lpstr>Stacked Area Chart</vt:lpstr>
      <vt:lpstr>Introduction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Bullet graph</dc:title>
  <dc:creator>Bhuvana Senthilkumar</dc:creator>
  <cp:lastModifiedBy>AI&amp;DS</cp:lastModifiedBy>
  <cp:revision>3</cp:revision>
  <dcterms:created xsi:type="dcterms:W3CDTF">2023-02-20T02:51:09Z</dcterms:created>
  <dcterms:modified xsi:type="dcterms:W3CDTF">2023-03-08T05:02:11Z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