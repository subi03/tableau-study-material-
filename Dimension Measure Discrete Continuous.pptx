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81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52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FF79-12B1-4C58-8F44-D676815345D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A4A5-CFCC-4A38-9719-B7107ECC7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FF79-12B1-4C58-8F44-D676815345D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A4A5-CFCC-4A38-9719-B7107ECC7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FF79-12B1-4C58-8F44-D676815345D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A4A5-CFCC-4A38-9719-B7107ECC7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FF79-12B1-4C58-8F44-D676815345D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A4A5-CFCC-4A38-9719-B7107ECC7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1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1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FF79-12B1-4C58-8F44-D676815345D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A4A5-CFCC-4A38-9719-B7107ECC7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FF79-12B1-4C58-8F44-D676815345D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A4A5-CFCC-4A38-9719-B7107ECC7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FF79-12B1-4C58-8F44-D676815345D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A4A5-CFCC-4A38-9719-B7107ECC7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6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FF79-12B1-4C58-8F44-D676815345D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A4A5-CFCC-4A38-9719-B7107ECC7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1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FF79-12B1-4C58-8F44-D676815345D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A4A5-CFCC-4A38-9719-B7107ECC7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FF79-12B1-4C58-8F44-D676815345D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A4A5-CFCC-4A38-9719-B7107ECC7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FF79-12B1-4C58-8F44-D676815345D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A4A5-CFCC-4A38-9719-B7107ECC7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8FF79-12B1-4C58-8F44-D676815345D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FA4A5-CFCC-4A38-9719-B7107ECC70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Tableau – Dimensions, Measure, Discrete, Continuous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"/>
            <a:ext cx="8229600" cy="582595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Tableau - Datatypes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928671"/>
            <a:ext cx="8358246" cy="5429288"/>
          </a:xfrm>
        </p:spPr>
        <p:txBody>
          <a:bodyPr/>
          <a:lstStyle/>
          <a:p>
            <a:r>
              <a:rPr lang="en-IN" dirty="0" smtClean="0"/>
              <a:t>Number</a:t>
            </a:r>
          </a:p>
          <a:p>
            <a:pPr lvl="1"/>
            <a:r>
              <a:rPr lang="en-IN" dirty="0" smtClean="0"/>
              <a:t>Decimal</a:t>
            </a:r>
          </a:p>
          <a:p>
            <a:pPr lvl="1"/>
            <a:r>
              <a:rPr lang="en-IN" dirty="0" smtClean="0"/>
              <a:t>Whole</a:t>
            </a:r>
            <a:endParaRPr lang="en-US" dirty="0"/>
          </a:p>
          <a:p>
            <a:pPr marL="93663" lvl="1" indent="176213"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IN" dirty="0" smtClean="0"/>
              <a:t>String</a:t>
            </a:r>
          </a:p>
          <a:p>
            <a:pPr marL="93663" lvl="1" indent="176213">
              <a:buFont typeface="Arial" pitchFamily="34" charset="0"/>
              <a:buChar char="•"/>
            </a:pPr>
            <a:r>
              <a:rPr lang="en-IN" dirty="0" smtClean="0"/>
              <a:t>Date</a:t>
            </a:r>
          </a:p>
          <a:p>
            <a:pPr marL="93663" lvl="1" indent="176213">
              <a:buFont typeface="Arial" pitchFamily="34" charset="0"/>
              <a:buChar char="•"/>
            </a:pPr>
            <a:r>
              <a:rPr lang="en-IN" dirty="0" smtClean="0"/>
              <a:t>Datetime</a:t>
            </a:r>
          </a:p>
          <a:p>
            <a:pPr marL="93663" lvl="1" indent="176213">
              <a:buFont typeface="Arial" pitchFamily="34" charset="0"/>
              <a:buChar char="•"/>
            </a:pPr>
            <a:r>
              <a:rPr lang="en-IN" dirty="0" smtClean="0"/>
              <a:t>Geographic</a:t>
            </a:r>
          </a:p>
          <a:p>
            <a:pPr marL="93663" lvl="1" indent="176213">
              <a:buFont typeface="Arial" pitchFamily="34" charset="0"/>
              <a:buChar char="•"/>
            </a:pPr>
            <a:r>
              <a:rPr lang="en-IN" dirty="0" smtClean="0"/>
              <a:t>Boolean</a:t>
            </a:r>
          </a:p>
          <a:p>
            <a:pPr lvl="1"/>
            <a:endParaRPr lang="en-IN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Tableau – types of connection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Live</a:t>
            </a:r>
          </a:p>
          <a:p>
            <a:r>
              <a:rPr lang="en-IN" dirty="0" smtClean="0"/>
              <a:t>Extract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Extensions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 smtClean="0"/>
              <a:t>twb</a:t>
            </a:r>
            <a:r>
              <a:rPr lang="en-IN" dirty="0" smtClean="0"/>
              <a:t> – Source data not available, XML , Live connection</a:t>
            </a:r>
          </a:p>
          <a:p>
            <a:r>
              <a:rPr lang="en-IN" dirty="0" err="1"/>
              <a:t>t</a:t>
            </a:r>
            <a:r>
              <a:rPr lang="en-IN" dirty="0" err="1" smtClean="0"/>
              <a:t>wbx</a:t>
            </a:r>
            <a:r>
              <a:rPr lang="en-IN" dirty="0" smtClean="0"/>
              <a:t> – source data available, compressed file, Extract connection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Dimension VS Measures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000108"/>
            <a:ext cx="8824022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41"/>
            <a:ext cx="8229600" cy="72547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37786" y="1600201"/>
            <a:ext cx="7268439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" y="714356"/>
            <a:ext cx="9206757" cy="5929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Dimension VS Measures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62286" y="90280"/>
            <a:ext cx="1092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0033A0"/>
                </a:solidFill>
                <a:latin typeface="PMingLiU-ExtB"/>
                <a:cs typeface="PMingLiU-ExtB"/>
              </a:rPr>
              <a:t>4</a:t>
            </a:r>
            <a:endParaRPr sz="14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8675" y="1638621"/>
            <a:ext cx="4377690" cy="23129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204" dirty="0">
                <a:solidFill>
                  <a:srgbClr val="2C2A29"/>
                </a:solidFill>
                <a:latin typeface="Verdana"/>
                <a:cs typeface="Verdana"/>
              </a:rPr>
              <a:t>Dimensions</a:t>
            </a:r>
            <a:endParaRPr sz="2000">
              <a:latin typeface="Verdana"/>
              <a:cs typeface="Verdana"/>
            </a:endParaRPr>
          </a:p>
          <a:p>
            <a:pPr marL="469900" marR="623570" indent="-382270">
              <a:lnSpc>
                <a:spcPct val="115599"/>
              </a:lnSpc>
              <a:spcBef>
                <a:spcPts val="1575"/>
              </a:spcBef>
              <a:buClr>
                <a:srgbClr val="0033A0"/>
              </a:buClr>
              <a:buFont typeface="Tahoma"/>
              <a:buChar char="●"/>
              <a:tabLst>
                <a:tab pos="469265" algn="l"/>
                <a:tab pos="469900" algn="l"/>
              </a:tabLst>
            </a:pPr>
            <a:r>
              <a:rPr sz="2000" spc="-55" dirty="0">
                <a:solidFill>
                  <a:srgbClr val="2C2A29"/>
                </a:solidFill>
                <a:latin typeface="Verdana"/>
                <a:cs typeface="Verdana"/>
              </a:rPr>
              <a:t>Tableau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2C2A29"/>
                </a:solidFill>
                <a:latin typeface="Verdana"/>
                <a:cs typeface="Verdana"/>
              </a:rPr>
              <a:t>assigns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2C2A29"/>
                </a:solidFill>
                <a:latin typeface="Verdana"/>
                <a:cs typeface="Verdana"/>
              </a:rPr>
              <a:t>categorical 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information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2C2A29"/>
                </a:solidFill>
                <a:latin typeface="Verdana"/>
                <a:cs typeface="Verdana"/>
              </a:rPr>
              <a:t>as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C2A29"/>
                </a:solidFill>
                <a:latin typeface="Verdana"/>
                <a:cs typeface="Verdana"/>
              </a:rPr>
              <a:t>a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dimension</a:t>
            </a:r>
            <a:endParaRPr sz="2000">
              <a:latin typeface="Verdana"/>
              <a:cs typeface="Verdana"/>
            </a:endParaRPr>
          </a:p>
          <a:p>
            <a:pPr marL="927100" lvl="1" indent="-382270">
              <a:lnSpc>
                <a:spcPct val="100000"/>
              </a:lnSpc>
              <a:spcBef>
                <a:spcPts val="375"/>
              </a:spcBef>
              <a:buFont typeface="Tahoma"/>
              <a:buChar char="○"/>
              <a:tabLst>
                <a:tab pos="926465" algn="l"/>
                <a:tab pos="927100" algn="l"/>
              </a:tabLst>
            </a:pPr>
            <a:r>
              <a:rPr sz="2000" spc="-110" dirty="0">
                <a:solidFill>
                  <a:srgbClr val="2C2A29"/>
                </a:solidFill>
                <a:latin typeface="Verdana"/>
                <a:cs typeface="Verdana"/>
              </a:rPr>
              <a:t>Strings,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booleans,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2C2A29"/>
                </a:solidFill>
                <a:latin typeface="Verdana"/>
                <a:cs typeface="Verdana"/>
              </a:rPr>
              <a:t>dates</a:t>
            </a:r>
            <a:endParaRPr sz="2000">
              <a:latin typeface="Verdana"/>
              <a:cs typeface="Verdana"/>
            </a:endParaRPr>
          </a:p>
          <a:p>
            <a:pPr marL="469900" marR="5080" indent="-382270">
              <a:lnSpc>
                <a:spcPct val="115599"/>
              </a:lnSpc>
              <a:buClr>
                <a:srgbClr val="0033A0"/>
              </a:buClr>
              <a:buFont typeface="Tahoma"/>
              <a:buChar char="●"/>
              <a:tabLst>
                <a:tab pos="469265" algn="l"/>
                <a:tab pos="469900" algn="l"/>
              </a:tabLst>
            </a:pP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Dimensions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create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buckets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2C2A29"/>
                </a:solidFill>
                <a:latin typeface="Verdana"/>
                <a:cs typeface="Verdana"/>
              </a:rPr>
              <a:t>-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they 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help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divide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2C2A29"/>
                </a:solidFill>
                <a:latin typeface="Verdana"/>
                <a:cs typeface="Verdana"/>
              </a:rPr>
              <a:t>data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68775" y="1730396"/>
            <a:ext cx="3588549" cy="4198205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500034" y="0"/>
            <a:ext cx="8229600" cy="654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Dimension VS Measures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62286" y="90280"/>
            <a:ext cx="1092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0033A0"/>
                </a:solidFill>
                <a:latin typeface="PMingLiU-ExtB"/>
                <a:cs typeface="PMingLiU-ExtB"/>
              </a:rPr>
              <a:t>5</a:t>
            </a:r>
            <a:endParaRPr sz="14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8675" y="1638619"/>
            <a:ext cx="6178550" cy="30310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200" dirty="0">
                <a:solidFill>
                  <a:srgbClr val="2C2A29"/>
                </a:solidFill>
                <a:latin typeface="Verdana"/>
                <a:cs typeface="Verdana"/>
              </a:rPr>
              <a:t>Measures</a:t>
            </a:r>
            <a:endParaRPr sz="2000">
              <a:latin typeface="Verdana"/>
              <a:cs typeface="Verdana"/>
            </a:endParaRPr>
          </a:p>
          <a:p>
            <a:pPr marL="469900" marR="1092835" indent="-382270">
              <a:lnSpc>
                <a:spcPct val="115599"/>
              </a:lnSpc>
              <a:spcBef>
                <a:spcPts val="1575"/>
              </a:spcBef>
              <a:buClr>
                <a:srgbClr val="0033A0"/>
              </a:buClr>
              <a:buFont typeface="Tahoma"/>
              <a:buChar char="●"/>
              <a:tabLst>
                <a:tab pos="469265" algn="l"/>
                <a:tab pos="469900" algn="l"/>
              </a:tabLst>
            </a:pPr>
            <a:r>
              <a:rPr sz="2000" spc="-55" dirty="0">
                <a:solidFill>
                  <a:srgbClr val="2C2A29"/>
                </a:solidFill>
                <a:latin typeface="Verdana"/>
                <a:cs typeface="Verdana"/>
              </a:rPr>
              <a:t>Tableau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2C2A29"/>
                </a:solidFill>
                <a:latin typeface="Verdana"/>
                <a:cs typeface="Verdana"/>
              </a:rPr>
              <a:t>assigns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quantitative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numerical 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information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2C2A29"/>
                </a:solidFill>
                <a:latin typeface="Verdana"/>
                <a:cs typeface="Verdana"/>
              </a:rPr>
              <a:t>as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C2A29"/>
                </a:solidFill>
                <a:latin typeface="Verdana"/>
                <a:cs typeface="Verdana"/>
              </a:rPr>
              <a:t>a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measure</a:t>
            </a:r>
            <a:endParaRPr sz="2000">
              <a:latin typeface="Verdana"/>
              <a:cs typeface="Verdana"/>
            </a:endParaRPr>
          </a:p>
          <a:p>
            <a:pPr marL="927100" lvl="1" indent="-382270">
              <a:lnSpc>
                <a:spcPct val="100000"/>
              </a:lnSpc>
              <a:spcBef>
                <a:spcPts val="375"/>
              </a:spcBef>
              <a:buFont typeface="Tahoma"/>
              <a:buChar char="○"/>
              <a:tabLst>
                <a:tab pos="926465" algn="l"/>
                <a:tab pos="927100" algn="l"/>
              </a:tabLst>
            </a:pPr>
            <a:r>
              <a:rPr sz="2000" spc="-95" dirty="0">
                <a:solidFill>
                  <a:srgbClr val="2C2A29"/>
                </a:solidFill>
                <a:latin typeface="Verdana"/>
                <a:cs typeface="Verdana"/>
              </a:rPr>
              <a:t>Numbers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25" dirty="0">
                <a:solidFill>
                  <a:srgbClr val="2C2A29"/>
                </a:solidFill>
                <a:latin typeface="Verdana"/>
                <a:cs typeface="Verdana"/>
              </a:rPr>
              <a:t>(integers,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20" dirty="0">
                <a:solidFill>
                  <a:srgbClr val="2C2A29"/>
                </a:solidFill>
                <a:latin typeface="Verdana"/>
                <a:cs typeface="Verdana"/>
              </a:rPr>
              <a:t>floats)*</a:t>
            </a:r>
            <a:endParaRPr sz="2000">
              <a:latin typeface="Verdana"/>
              <a:cs typeface="Verdana"/>
            </a:endParaRPr>
          </a:p>
          <a:p>
            <a:pPr marL="469900" marR="17145" indent="-382270">
              <a:lnSpc>
                <a:spcPct val="115599"/>
              </a:lnSpc>
              <a:buClr>
                <a:srgbClr val="0033A0"/>
              </a:buClr>
              <a:buFont typeface="Tahoma"/>
              <a:buChar char="●"/>
              <a:tabLst>
                <a:tab pos="469265" algn="l"/>
                <a:tab pos="469900" algn="l"/>
              </a:tabLst>
            </a:pP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Measures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fill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buckets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2C2A29"/>
                </a:solidFill>
                <a:latin typeface="Verdana"/>
                <a:cs typeface="Verdana"/>
              </a:rPr>
              <a:t>-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2C2A29"/>
                </a:solidFill>
                <a:latin typeface="Verdana"/>
                <a:cs typeface="Verdana"/>
              </a:rPr>
              <a:t>they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are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2C2A29"/>
                </a:solidFill>
                <a:latin typeface="Verdana"/>
                <a:cs typeface="Verdana"/>
              </a:rPr>
              <a:t>“math”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2C2A29"/>
                </a:solidFill>
                <a:latin typeface="Verdana"/>
                <a:cs typeface="Verdana"/>
              </a:rPr>
              <a:t>data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that </a:t>
            </a:r>
            <a:r>
              <a:rPr sz="2000" spc="-69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help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2C2A29"/>
                </a:solidFill>
                <a:latin typeface="Verdana"/>
                <a:cs typeface="Verdana"/>
              </a:rPr>
              <a:t>do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calculations</a:t>
            </a:r>
            <a:endParaRPr sz="2000">
              <a:latin typeface="Verdana"/>
              <a:cs typeface="Verdana"/>
            </a:endParaRPr>
          </a:p>
          <a:p>
            <a:pPr marL="469900" indent="-382270">
              <a:lnSpc>
                <a:spcPct val="100000"/>
              </a:lnSpc>
              <a:spcBef>
                <a:spcPts val="375"/>
              </a:spcBef>
              <a:buClr>
                <a:srgbClr val="0033A0"/>
              </a:buClr>
              <a:buFont typeface="Tahoma"/>
              <a:buChar char="●"/>
              <a:tabLst>
                <a:tab pos="469265" algn="l"/>
                <a:tab pos="469900" algn="l"/>
              </a:tabLst>
            </a:pPr>
            <a:r>
              <a:rPr sz="2000" spc="-135" dirty="0">
                <a:solidFill>
                  <a:srgbClr val="2C2A29"/>
                </a:solidFill>
                <a:latin typeface="Verdana"/>
                <a:cs typeface="Verdana"/>
              </a:rPr>
              <a:t>*Disclaimer: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not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all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2C2A29"/>
                </a:solidFill>
                <a:latin typeface="Verdana"/>
                <a:cs typeface="Verdana"/>
              </a:rPr>
              <a:t>numbers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should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be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2C2A29"/>
                </a:solidFill>
                <a:latin typeface="Verdana"/>
                <a:cs typeface="Verdana"/>
              </a:rPr>
              <a:t>measures</a:t>
            </a:r>
            <a:endParaRPr sz="20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375"/>
              </a:spcBef>
            </a:pPr>
            <a:r>
              <a:rPr sz="2000" spc="-55" dirty="0">
                <a:solidFill>
                  <a:srgbClr val="2C2A29"/>
                </a:solidFill>
                <a:latin typeface="Verdana"/>
                <a:cs typeface="Verdana"/>
              </a:rPr>
              <a:t>-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2C2A29"/>
                </a:solidFill>
                <a:latin typeface="Verdana"/>
                <a:cs typeface="Verdana"/>
              </a:rPr>
              <a:t>think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2C2A29"/>
                </a:solidFill>
                <a:latin typeface="Verdana"/>
                <a:cs typeface="Verdana"/>
              </a:rPr>
              <a:t>Student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45" dirty="0">
                <a:solidFill>
                  <a:srgbClr val="2C2A29"/>
                </a:solidFill>
                <a:latin typeface="Verdana"/>
                <a:cs typeface="Verdana"/>
              </a:rPr>
              <a:t>IDs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and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2C2A29"/>
                </a:solidFill>
                <a:latin typeface="Verdana"/>
                <a:cs typeface="Verdana"/>
              </a:rPr>
              <a:t>postal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codes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5853" y="2275288"/>
            <a:ext cx="1429299" cy="9851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25858" y="3792507"/>
            <a:ext cx="1041749" cy="18109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719128" y="2766751"/>
            <a:ext cx="3689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70" dirty="0">
                <a:solidFill>
                  <a:srgbClr val="37761C"/>
                </a:solidFill>
                <a:latin typeface="Tahoma"/>
                <a:cs typeface="Tahoma"/>
              </a:rPr>
              <a:t>Yes!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39075" y="4523484"/>
            <a:ext cx="30988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5" dirty="0">
                <a:solidFill>
                  <a:srgbClr val="CC0000"/>
                </a:solidFill>
                <a:latin typeface="Tahoma"/>
                <a:cs typeface="Tahoma"/>
              </a:rPr>
              <a:t>No!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500034" y="0"/>
            <a:ext cx="8229600" cy="654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Dimension VS Measures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62286" y="90280"/>
            <a:ext cx="1092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0033A0"/>
                </a:solidFill>
                <a:latin typeface="PMingLiU-ExtB"/>
                <a:cs typeface="PMingLiU-ExtB"/>
              </a:rPr>
              <a:t>6</a:t>
            </a:r>
            <a:endParaRPr sz="14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9795" y="1575119"/>
            <a:ext cx="8182609" cy="1800878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94335" indent="-382270">
              <a:lnSpc>
                <a:spcPct val="100000"/>
              </a:lnSpc>
              <a:spcBef>
                <a:spcPts val="475"/>
              </a:spcBef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spc="-95" dirty="0">
                <a:solidFill>
                  <a:srgbClr val="2C2A29"/>
                </a:solidFill>
                <a:latin typeface="Verdana"/>
                <a:cs typeface="Verdana"/>
              </a:rPr>
              <a:t>Gender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is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C2A29"/>
                </a:solidFill>
                <a:latin typeface="Verdana"/>
                <a:cs typeface="Verdana"/>
              </a:rPr>
              <a:t>a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dimension</a:t>
            </a:r>
            <a:endParaRPr sz="2000">
              <a:latin typeface="Verdana"/>
              <a:cs typeface="Verdana"/>
            </a:endParaRPr>
          </a:p>
          <a:p>
            <a:pPr marL="851535" lvl="1" indent="-382270">
              <a:lnSpc>
                <a:spcPct val="100000"/>
              </a:lnSpc>
              <a:spcBef>
                <a:spcPts val="375"/>
              </a:spcBef>
              <a:buFont typeface="Tahoma"/>
              <a:buChar char="○"/>
              <a:tabLst>
                <a:tab pos="851535" algn="l"/>
                <a:tab pos="852169" algn="l"/>
              </a:tabLst>
            </a:pP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Divides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2C2A29"/>
                </a:solidFill>
                <a:latin typeface="Verdana"/>
                <a:cs typeface="Verdana"/>
              </a:rPr>
              <a:t>data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into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possible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gender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options</a:t>
            </a:r>
            <a:endParaRPr sz="2000">
              <a:latin typeface="Verdana"/>
              <a:cs typeface="Verdana"/>
            </a:endParaRPr>
          </a:p>
          <a:p>
            <a:pPr marL="394335" indent="-382270">
              <a:lnSpc>
                <a:spcPct val="100000"/>
              </a:lnSpc>
              <a:spcBef>
                <a:spcPts val="375"/>
              </a:spcBef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Number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of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Records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is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C2A29"/>
                </a:solidFill>
                <a:latin typeface="Verdana"/>
                <a:cs typeface="Verdana"/>
              </a:rPr>
              <a:t>a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measure</a:t>
            </a:r>
            <a:endParaRPr sz="2000">
              <a:latin typeface="Verdana"/>
              <a:cs typeface="Verdana"/>
            </a:endParaRPr>
          </a:p>
          <a:p>
            <a:pPr marL="851535" marR="5080" lvl="1" indent="-382270">
              <a:lnSpc>
                <a:spcPct val="115599"/>
              </a:lnSpc>
              <a:buClr>
                <a:srgbClr val="0033A0"/>
              </a:buClr>
              <a:buFont typeface="Tahoma"/>
              <a:buChar char="○"/>
              <a:tabLst>
                <a:tab pos="851535" algn="l"/>
                <a:tab pos="852169" algn="l"/>
              </a:tabLst>
            </a:pPr>
            <a:r>
              <a:rPr sz="2000" spc="-120" dirty="0">
                <a:solidFill>
                  <a:srgbClr val="2C2A29"/>
                </a:solidFill>
                <a:latin typeface="Verdana"/>
                <a:cs typeface="Verdana"/>
              </a:rPr>
              <a:t>Summing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14" dirty="0">
                <a:solidFill>
                  <a:srgbClr val="2C2A29"/>
                </a:solidFill>
                <a:latin typeface="Verdana"/>
                <a:cs typeface="Verdana"/>
              </a:rPr>
              <a:t>number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of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records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2C2A29"/>
                </a:solidFill>
                <a:latin typeface="Verdana"/>
                <a:cs typeface="Verdana"/>
              </a:rPr>
              <a:t>shows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us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C2A29"/>
                </a:solidFill>
                <a:latin typeface="Verdana"/>
                <a:cs typeface="Verdana"/>
              </a:rPr>
              <a:t>how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2C2A29"/>
                </a:solidFill>
                <a:latin typeface="Verdana"/>
                <a:cs typeface="Verdana"/>
              </a:rPr>
              <a:t>many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students </a:t>
            </a:r>
            <a:r>
              <a:rPr sz="2000" spc="-69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are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in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each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gender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option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337" y="4089201"/>
            <a:ext cx="7949324" cy="2459499"/>
          </a:xfrm>
          <a:prstGeom prst="rect">
            <a:avLst/>
          </a:prstGeom>
        </p:spPr>
      </p:pic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Dimension VS Measures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62286" y="90280"/>
            <a:ext cx="1092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0033A0"/>
                </a:solidFill>
                <a:latin typeface="PMingLiU-ExtB"/>
                <a:cs typeface="PMingLiU-ExtB"/>
              </a:rPr>
              <a:t>7</a:t>
            </a:r>
            <a:endParaRPr sz="14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9795" y="1575121"/>
            <a:ext cx="3808729" cy="25160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marR="5080" indent="-382270">
              <a:lnSpc>
                <a:spcPct val="115599"/>
              </a:lnSpc>
              <a:spcBef>
                <a:spcPts val="100"/>
              </a:spcBef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Measures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2C2A29"/>
                </a:solidFill>
                <a:latin typeface="Verdana"/>
                <a:cs typeface="Verdana"/>
              </a:rPr>
              <a:t>will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be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2C2A29"/>
                </a:solidFill>
                <a:latin typeface="Verdana"/>
                <a:cs typeface="Verdana"/>
              </a:rPr>
              <a:t>aggregated 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using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2C2A29"/>
                </a:solidFill>
                <a:latin typeface="Verdana"/>
                <a:cs typeface="Verdana"/>
              </a:rPr>
              <a:t>some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sort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2C2A29"/>
                </a:solidFill>
                <a:latin typeface="Verdana"/>
                <a:cs typeface="Verdana"/>
              </a:rPr>
              <a:t>of 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mathematical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function</a:t>
            </a:r>
            <a:endParaRPr sz="2000">
              <a:latin typeface="Verdana"/>
              <a:cs typeface="Verdana"/>
            </a:endParaRPr>
          </a:p>
          <a:p>
            <a:pPr marL="851535" lvl="1" indent="-382270">
              <a:lnSpc>
                <a:spcPct val="100000"/>
              </a:lnSpc>
              <a:spcBef>
                <a:spcPts val="375"/>
              </a:spcBef>
              <a:buFont typeface="Tahoma"/>
              <a:buChar char="○"/>
              <a:tabLst>
                <a:tab pos="851535" algn="l"/>
                <a:tab pos="852169" algn="l"/>
              </a:tabLst>
            </a:pPr>
            <a:r>
              <a:rPr sz="2000" spc="-20" dirty="0">
                <a:solidFill>
                  <a:srgbClr val="2C2A29"/>
                </a:solidFill>
                <a:latin typeface="Verdana"/>
                <a:cs typeface="Verdana"/>
              </a:rPr>
              <a:t>Wrapped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in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parentheses</a:t>
            </a:r>
            <a:endParaRPr sz="2000">
              <a:latin typeface="Verdana"/>
              <a:cs typeface="Verdana"/>
            </a:endParaRPr>
          </a:p>
          <a:p>
            <a:pPr marL="394335" indent="-382270">
              <a:lnSpc>
                <a:spcPct val="100000"/>
              </a:lnSpc>
              <a:spcBef>
                <a:spcPts val="375"/>
              </a:spcBef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Dimensions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2C2A29"/>
                </a:solidFill>
                <a:latin typeface="Verdana"/>
                <a:cs typeface="Verdana"/>
              </a:rPr>
              <a:t>will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not</a:t>
            </a:r>
            <a:endParaRPr sz="2000">
              <a:latin typeface="Verdana"/>
              <a:cs typeface="Verdana"/>
            </a:endParaRPr>
          </a:p>
          <a:p>
            <a:pPr marL="394335" marR="342265" indent="-382270">
              <a:lnSpc>
                <a:spcPct val="115599"/>
              </a:lnSpc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Color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b="1" spc="-50" dirty="0">
                <a:solidFill>
                  <a:srgbClr val="2C2A29"/>
                </a:solidFill>
                <a:latin typeface="Tahoma"/>
                <a:cs typeface="Tahoma"/>
              </a:rPr>
              <a:t>does</a:t>
            </a:r>
            <a:r>
              <a:rPr sz="2000" b="1" spc="-40" dirty="0">
                <a:solidFill>
                  <a:srgbClr val="2C2A29"/>
                </a:solidFill>
                <a:latin typeface="Tahoma"/>
                <a:cs typeface="Tahoma"/>
              </a:rPr>
              <a:t> </a:t>
            </a:r>
            <a:r>
              <a:rPr sz="2000" b="1" spc="-70" dirty="0">
                <a:solidFill>
                  <a:srgbClr val="2C2A29"/>
                </a:solidFill>
                <a:latin typeface="Tahoma"/>
                <a:cs typeface="Tahoma"/>
              </a:rPr>
              <a:t>not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distinguish 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dimensions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14" dirty="0">
                <a:solidFill>
                  <a:srgbClr val="2C2A29"/>
                </a:solidFill>
                <a:latin typeface="Verdana"/>
                <a:cs typeface="Verdana"/>
              </a:rPr>
              <a:t>&amp;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2C2A29"/>
                </a:solidFill>
                <a:latin typeface="Verdana"/>
                <a:cs typeface="Verdana"/>
              </a:rPr>
              <a:t>measures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4350" y="285728"/>
            <a:ext cx="693991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Dimension VS Measures</a:t>
            </a:r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940062" y="1870832"/>
            <a:ext cx="2796540" cy="1376680"/>
            <a:chOff x="5940062" y="1403124"/>
            <a:chExt cx="2796540" cy="10325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8649" y="1403124"/>
              <a:ext cx="2299999" cy="4901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327224" y="1944022"/>
              <a:ext cx="394970" cy="464820"/>
            </a:xfrm>
            <a:custGeom>
              <a:avLst/>
              <a:gdLst/>
              <a:ahLst/>
              <a:cxnLst/>
              <a:rect l="l" t="t" r="r" b="b"/>
              <a:pathLst>
                <a:path w="394970" h="464819">
                  <a:moveTo>
                    <a:pt x="394775" y="464552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28963" y="1830919"/>
              <a:ext cx="148514" cy="15795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954350" y="1932653"/>
              <a:ext cx="406400" cy="488950"/>
            </a:xfrm>
            <a:custGeom>
              <a:avLst/>
              <a:gdLst/>
              <a:ahLst/>
              <a:cxnLst/>
              <a:rect l="l" t="t" r="r" b="b"/>
              <a:pathLst>
                <a:path w="406400" h="488950">
                  <a:moveTo>
                    <a:pt x="0" y="488521"/>
                  </a:moveTo>
                  <a:lnTo>
                    <a:pt x="405841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09599" y="1818619"/>
              <a:ext cx="147743" cy="158481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5103" y="3460769"/>
            <a:ext cx="2347099" cy="5247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62286" y="90280"/>
            <a:ext cx="1092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0033A0"/>
                </a:solidFill>
                <a:latin typeface="PMingLiU-ExtB"/>
                <a:cs typeface="PMingLiU-ExtB"/>
              </a:rPr>
              <a:t>8</a:t>
            </a:r>
            <a:endParaRPr sz="14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5003" y="1511521"/>
            <a:ext cx="5120005" cy="394505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000" b="1" i="1" spc="-185" dirty="0">
                <a:solidFill>
                  <a:srgbClr val="2C2A29"/>
                </a:solidFill>
                <a:latin typeface="Verdana"/>
                <a:cs typeface="Verdana"/>
              </a:rPr>
              <a:t>Universally</a:t>
            </a:r>
            <a:endParaRPr sz="2000">
              <a:latin typeface="Verdana"/>
              <a:cs typeface="Verdana"/>
            </a:endParaRPr>
          </a:p>
          <a:p>
            <a:pPr marL="469900" marR="243204" indent="-382270" algn="just">
              <a:lnSpc>
                <a:spcPct val="115599"/>
              </a:lnSpc>
              <a:buClr>
                <a:srgbClr val="0033A0"/>
              </a:buClr>
              <a:buFont typeface="Tahoma"/>
              <a:buChar char="●"/>
              <a:tabLst>
                <a:tab pos="469900" algn="l"/>
              </a:tabLst>
            </a:pPr>
            <a:r>
              <a:rPr sz="2000" spc="-170" dirty="0">
                <a:solidFill>
                  <a:srgbClr val="2C2A29"/>
                </a:solidFill>
                <a:latin typeface="Verdana"/>
                <a:cs typeface="Verdana"/>
              </a:rPr>
              <a:t>1.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2C2A29"/>
                </a:solidFill>
                <a:latin typeface="Verdana"/>
                <a:cs typeface="Verdana"/>
              </a:rPr>
              <a:t>Drag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field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2C2A29"/>
                </a:solidFill>
                <a:latin typeface="Verdana"/>
                <a:cs typeface="Verdana"/>
              </a:rPr>
              <a:t>from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Dimensions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shelf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to  Measures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shelf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60" dirty="0">
                <a:solidFill>
                  <a:srgbClr val="2C2A29"/>
                </a:solidFill>
                <a:latin typeface="Verdana"/>
                <a:cs typeface="Verdana"/>
              </a:rPr>
              <a:t>(or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vice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14" dirty="0">
                <a:solidFill>
                  <a:srgbClr val="2C2A29"/>
                </a:solidFill>
                <a:latin typeface="Verdana"/>
                <a:cs typeface="Verdana"/>
              </a:rPr>
              <a:t>versa)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in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2C2A29"/>
                </a:solidFill>
                <a:latin typeface="Verdana"/>
                <a:cs typeface="Verdana"/>
              </a:rPr>
              <a:t>data 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pane</a:t>
            </a:r>
            <a:endParaRPr sz="2000">
              <a:latin typeface="Verdana"/>
              <a:cs typeface="Verdana"/>
            </a:endParaRPr>
          </a:p>
          <a:p>
            <a:pPr marL="469900" marR="5080" indent="-382270" algn="just">
              <a:lnSpc>
                <a:spcPct val="115599"/>
              </a:lnSpc>
              <a:buClr>
                <a:srgbClr val="0033A0"/>
              </a:buClr>
              <a:buFont typeface="Tahoma"/>
              <a:buChar char="●"/>
              <a:tabLst>
                <a:tab pos="469900" algn="l"/>
              </a:tabLst>
            </a:pPr>
            <a:r>
              <a:rPr sz="2000" spc="-170" dirty="0">
                <a:solidFill>
                  <a:srgbClr val="2C2A29"/>
                </a:solidFill>
                <a:latin typeface="Verdana"/>
                <a:cs typeface="Verdana"/>
              </a:rPr>
              <a:t>2.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Right-click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on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field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in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2C2A29"/>
                </a:solidFill>
                <a:latin typeface="Verdana"/>
                <a:cs typeface="Verdana"/>
              </a:rPr>
              <a:t>data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pane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2C2A29"/>
                </a:solidFill>
                <a:latin typeface="Verdana"/>
                <a:cs typeface="Verdana"/>
              </a:rPr>
              <a:t>and 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select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b="1" spc="-60" dirty="0">
                <a:solidFill>
                  <a:srgbClr val="2C2A29"/>
                </a:solidFill>
                <a:latin typeface="Tahoma"/>
                <a:cs typeface="Tahoma"/>
              </a:rPr>
              <a:t>Convert</a:t>
            </a:r>
            <a:r>
              <a:rPr sz="2000" b="1" spc="-40" dirty="0">
                <a:solidFill>
                  <a:srgbClr val="2C2A29"/>
                </a:solidFill>
                <a:latin typeface="Tahoma"/>
                <a:cs typeface="Tahoma"/>
              </a:rPr>
              <a:t> </a:t>
            </a:r>
            <a:r>
              <a:rPr sz="2000" b="1" spc="-65" dirty="0">
                <a:solidFill>
                  <a:srgbClr val="2C2A29"/>
                </a:solidFill>
                <a:latin typeface="Tahoma"/>
                <a:cs typeface="Tahoma"/>
              </a:rPr>
              <a:t>to</a:t>
            </a:r>
            <a:r>
              <a:rPr sz="2000" b="1" spc="-40" dirty="0">
                <a:solidFill>
                  <a:srgbClr val="2C2A29"/>
                </a:solidFill>
                <a:latin typeface="Tahoma"/>
                <a:cs typeface="Tahoma"/>
              </a:rPr>
              <a:t> </a:t>
            </a:r>
            <a:r>
              <a:rPr sz="2000" b="1" spc="-65" dirty="0">
                <a:solidFill>
                  <a:srgbClr val="2C2A29"/>
                </a:solidFill>
                <a:latin typeface="Tahoma"/>
                <a:cs typeface="Tahoma"/>
              </a:rPr>
              <a:t>Dimension</a:t>
            </a:r>
            <a:r>
              <a:rPr sz="2000" b="1" spc="-40" dirty="0">
                <a:solidFill>
                  <a:srgbClr val="2C2A29"/>
                </a:solidFill>
                <a:latin typeface="Tahoma"/>
                <a:cs typeface="Tahoma"/>
              </a:rPr>
              <a:t> </a:t>
            </a:r>
            <a:r>
              <a:rPr sz="2000" b="1" spc="-95" dirty="0">
                <a:solidFill>
                  <a:srgbClr val="2C2A29"/>
                </a:solidFill>
                <a:latin typeface="Tahoma"/>
                <a:cs typeface="Tahoma"/>
              </a:rPr>
              <a:t>(Measure)</a:t>
            </a:r>
            <a:endParaRPr sz="2000">
              <a:latin typeface="Tahoma"/>
              <a:cs typeface="Tahoma"/>
            </a:endParaRPr>
          </a:p>
          <a:p>
            <a:pPr marL="927100" marR="724535" lvl="1" indent="-382270" algn="just">
              <a:lnSpc>
                <a:spcPct val="115599"/>
              </a:lnSpc>
              <a:buFont typeface="Tahoma"/>
              <a:buChar char="○"/>
              <a:tabLst>
                <a:tab pos="927100" algn="l"/>
              </a:tabLst>
            </a:pPr>
            <a:r>
              <a:rPr sz="2000" spc="-210" dirty="0">
                <a:solidFill>
                  <a:srgbClr val="2C2A29"/>
                </a:solidFill>
                <a:latin typeface="Verdana"/>
                <a:cs typeface="Verdana"/>
              </a:rPr>
              <a:t>It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2C2A29"/>
                </a:solidFill>
                <a:latin typeface="Verdana"/>
                <a:cs typeface="Verdana"/>
              </a:rPr>
              <a:t>will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C2A29"/>
                </a:solidFill>
                <a:latin typeface="Verdana"/>
                <a:cs typeface="Verdana"/>
              </a:rPr>
              <a:t>now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2C2A29"/>
                </a:solidFill>
                <a:latin typeface="Verdana"/>
                <a:cs typeface="Verdana"/>
              </a:rPr>
              <a:t>appear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in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Measure  </a:t>
            </a:r>
            <a:r>
              <a:rPr sz="2000" spc="-125" dirty="0">
                <a:solidFill>
                  <a:srgbClr val="2C2A29"/>
                </a:solidFill>
                <a:latin typeface="Verdana"/>
                <a:cs typeface="Verdana"/>
              </a:rPr>
              <a:t>(Dimension)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shelf</a:t>
            </a:r>
            <a:endParaRPr sz="200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375"/>
              </a:spcBef>
            </a:pPr>
            <a:r>
              <a:rPr sz="2000" b="1" i="1" spc="-195" dirty="0">
                <a:solidFill>
                  <a:srgbClr val="2C2A29"/>
                </a:solidFill>
                <a:latin typeface="Verdana"/>
                <a:cs typeface="Verdana"/>
              </a:rPr>
              <a:t>One-time</a:t>
            </a:r>
            <a:r>
              <a:rPr sz="2000" b="1" i="1" spc="-14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b="1" i="1" spc="-185" dirty="0">
                <a:solidFill>
                  <a:srgbClr val="2C2A29"/>
                </a:solidFill>
                <a:latin typeface="Verdana"/>
                <a:cs typeface="Verdana"/>
              </a:rPr>
              <a:t>Only</a:t>
            </a:r>
            <a:endParaRPr sz="2000">
              <a:latin typeface="Verdana"/>
              <a:cs typeface="Verdana"/>
            </a:endParaRPr>
          </a:p>
          <a:p>
            <a:pPr marL="469900" indent="-382270" algn="just">
              <a:lnSpc>
                <a:spcPct val="100000"/>
              </a:lnSpc>
              <a:spcBef>
                <a:spcPts val="375"/>
              </a:spcBef>
              <a:buClr>
                <a:srgbClr val="0033A0"/>
              </a:buClr>
              <a:buFont typeface="Tahoma"/>
              <a:buChar char="●"/>
              <a:tabLst>
                <a:tab pos="469900" algn="l"/>
              </a:tabLst>
            </a:pPr>
            <a:r>
              <a:rPr sz="2000" spc="-170" dirty="0">
                <a:solidFill>
                  <a:srgbClr val="2C2A29"/>
                </a:solidFill>
                <a:latin typeface="Verdana"/>
                <a:cs typeface="Verdana"/>
              </a:rPr>
              <a:t>3.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On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20" dirty="0">
                <a:solidFill>
                  <a:srgbClr val="2C2A29"/>
                </a:solidFill>
                <a:latin typeface="Verdana"/>
                <a:cs typeface="Verdana"/>
              </a:rPr>
              <a:t>viz,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right-click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and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select</a:t>
            </a:r>
            <a:endParaRPr sz="20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375"/>
              </a:spcBef>
            </a:pPr>
            <a:r>
              <a:rPr sz="2000" b="1" spc="-65" dirty="0">
                <a:solidFill>
                  <a:srgbClr val="2C2A29"/>
                </a:solidFill>
                <a:latin typeface="Tahoma"/>
                <a:cs typeface="Tahoma"/>
              </a:rPr>
              <a:t>Dimension</a:t>
            </a:r>
            <a:r>
              <a:rPr sz="2000" b="1" spc="-70" dirty="0">
                <a:solidFill>
                  <a:srgbClr val="2C2A29"/>
                </a:solidFill>
                <a:latin typeface="Tahoma"/>
                <a:cs typeface="Tahoma"/>
              </a:rPr>
              <a:t> </a:t>
            </a:r>
            <a:r>
              <a:rPr sz="2000" b="1" spc="-95" dirty="0">
                <a:solidFill>
                  <a:srgbClr val="2C2A29"/>
                </a:solidFill>
                <a:latin typeface="Tahoma"/>
                <a:cs typeface="Tahoma"/>
              </a:rPr>
              <a:t>(Measure)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5786" y="214291"/>
            <a:ext cx="778674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60" dirty="0">
                <a:solidFill>
                  <a:srgbClr val="2C2A29"/>
                </a:solidFill>
              </a:rPr>
              <a:t>Switching</a:t>
            </a:r>
            <a:r>
              <a:rPr sz="4000" spc="-65" dirty="0">
                <a:solidFill>
                  <a:srgbClr val="2C2A29"/>
                </a:solidFill>
              </a:rPr>
              <a:t> </a:t>
            </a:r>
            <a:r>
              <a:rPr sz="4000" spc="-75" dirty="0">
                <a:solidFill>
                  <a:srgbClr val="2C2A29"/>
                </a:solidFill>
              </a:rPr>
              <a:t>Dimensions</a:t>
            </a:r>
            <a:r>
              <a:rPr sz="4000" spc="-65" dirty="0">
                <a:solidFill>
                  <a:srgbClr val="2C2A29"/>
                </a:solidFill>
              </a:rPr>
              <a:t> </a:t>
            </a:r>
            <a:r>
              <a:rPr sz="4000" spc="-25" dirty="0">
                <a:solidFill>
                  <a:srgbClr val="2C2A29"/>
                </a:solidFill>
              </a:rPr>
              <a:t>and</a:t>
            </a:r>
            <a:r>
              <a:rPr sz="4000" spc="-60" dirty="0">
                <a:solidFill>
                  <a:srgbClr val="2C2A29"/>
                </a:solidFill>
              </a:rPr>
              <a:t> </a:t>
            </a:r>
            <a:r>
              <a:rPr sz="4000" spc="-70" dirty="0">
                <a:solidFill>
                  <a:srgbClr val="2C2A29"/>
                </a:solidFill>
              </a:rPr>
              <a:t>Measures</a:t>
            </a:r>
            <a:endParaRPr sz="40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4671" y="1926367"/>
            <a:ext cx="3479598" cy="19453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34678" y="4403141"/>
            <a:ext cx="3479599" cy="22488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428604"/>
            <a:ext cx="760095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0" y="3286124"/>
            <a:ext cx="9144000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62286" y="90280"/>
            <a:ext cx="1092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0033A0"/>
                </a:solidFill>
                <a:latin typeface="PMingLiU-ExtB"/>
                <a:cs typeface="PMingLiU-ExtB"/>
              </a:rPr>
              <a:t>9</a:t>
            </a:r>
            <a:endParaRPr sz="14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5001" y="1511521"/>
            <a:ext cx="8070215" cy="2519023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000" b="1" i="1" spc="-190" dirty="0">
                <a:solidFill>
                  <a:srgbClr val="2C2A29"/>
                </a:solidFill>
                <a:latin typeface="Verdana"/>
                <a:cs typeface="Verdana"/>
              </a:rPr>
              <a:t>Continuous</a:t>
            </a:r>
            <a:endParaRPr sz="2000">
              <a:latin typeface="Verdana"/>
              <a:cs typeface="Verdana"/>
            </a:endParaRPr>
          </a:p>
          <a:p>
            <a:pPr marL="469900" indent="-382270">
              <a:lnSpc>
                <a:spcPct val="100000"/>
              </a:lnSpc>
              <a:spcBef>
                <a:spcPts val="375"/>
              </a:spcBef>
              <a:buClr>
                <a:srgbClr val="0033A0"/>
              </a:buClr>
              <a:buFont typeface="Tahoma"/>
              <a:buChar char="●"/>
              <a:tabLst>
                <a:tab pos="469265" algn="l"/>
                <a:tab pos="469900" algn="l"/>
              </a:tabLst>
            </a:pPr>
            <a:r>
              <a:rPr sz="2000" spc="-95" dirty="0">
                <a:solidFill>
                  <a:srgbClr val="2C2A29"/>
                </a:solidFill>
                <a:latin typeface="Verdana"/>
                <a:cs typeface="Verdana"/>
              </a:rPr>
              <a:t>“Forming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an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2C2A29"/>
                </a:solidFill>
                <a:latin typeface="Verdana"/>
                <a:cs typeface="Verdana"/>
              </a:rPr>
              <a:t>unbroken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whole,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without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2C2A29"/>
                </a:solidFill>
                <a:latin typeface="Verdana"/>
                <a:cs typeface="Verdana"/>
              </a:rPr>
              <a:t>interruption”</a:t>
            </a:r>
            <a:endParaRPr sz="2000">
              <a:latin typeface="Verdana"/>
              <a:cs typeface="Verdana"/>
            </a:endParaRPr>
          </a:p>
          <a:p>
            <a:pPr marL="469900" marR="5080" indent="-382270">
              <a:lnSpc>
                <a:spcPct val="115599"/>
              </a:lnSpc>
              <a:buClr>
                <a:srgbClr val="0033A0"/>
              </a:buClr>
              <a:buFont typeface="Tahoma"/>
              <a:buChar char="●"/>
              <a:tabLst>
                <a:tab pos="469265" algn="l"/>
                <a:tab pos="469900" algn="l"/>
              </a:tabLst>
            </a:pPr>
            <a:r>
              <a:rPr sz="2000" spc="-35" dirty="0">
                <a:solidFill>
                  <a:srgbClr val="2C2A29"/>
                </a:solidFill>
                <a:latin typeface="Verdana"/>
                <a:cs typeface="Verdana"/>
              </a:rPr>
              <a:t>Placing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C2A29"/>
                </a:solidFill>
                <a:latin typeface="Verdana"/>
                <a:cs typeface="Verdana"/>
              </a:rPr>
              <a:t>a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continuous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value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on</a:t>
            </a:r>
            <a:r>
              <a:rPr sz="2000" spc="-19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b="1" spc="-35" dirty="0">
                <a:solidFill>
                  <a:srgbClr val="2C2A29"/>
                </a:solidFill>
                <a:latin typeface="Tahoma"/>
                <a:cs typeface="Tahoma"/>
              </a:rPr>
              <a:t>Rows</a:t>
            </a:r>
            <a:r>
              <a:rPr sz="2000" b="1" spc="-40" dirty="0">
                <a:solidFill>
                  <a:srgbClr val="2C2A29"/>
                </a:solidFill>
                <a:latin typeface="Tahoma"/>
                <a:cs typeface="Tahom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or</a:t>
            </a:r>
            <a:r>
              <a:rPr sz="2000" spc="-15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b="1" spc="-60" dirty="0">
                <a:solidFill>
                  <a:srgbClr val="2C2A29"/>
                </a:solidFill>
                <a:latin typeface="Tahoma"/>
                <a:cs typeface="Tahoma"/>
              </a:rPr>
              <a:t>Columns</a:t>
            </a:r>
            <a:r>
              <a:rPr sz="2000" b="1" spc="-40" dirty="0">
                <a:solidFill>
                  <a:srgbClr val="2C2A29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shelf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creates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an </a:t>
            </a:r>
            <a:r>
              <a:rPr sz="2000" spc="-6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b="1" spc="-60" dirty="0">
                <a:solidFill>
                  <a:srgbClr val="2C2A29"/>
                </a:solidFill>
                <a:latin typeface="Verdana"/>
                <a:cs typeface="Verdana"/>
              </a:rPr>
              <a:t>axis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2C2A29"/>
                </a:solidFill>
                <a:latin typeface="Verdana"/>
                <a:cs typeface="Verdana"/>
              </a:rPr>
              <a:t>-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2C2A29"/>
                </a:solidFill>
                <a:latin typeface="Verdana"/>
                <a:cs typeface="Verdana"/>
              </a:rPr>
              <a:t>shows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2C2A29"/>
                </a:solidFill>
                <a:latin typeface="Verdana"/>
                <a:cs typeface="Verdana"/>
              </a:rPr>
              <a:t>actual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and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potential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values</a:t>
            </a:r>
            <a:endParaRPr sz="2000">
              <a:latin typeface="Verdana"/>
              <a:cs typeface="Verdana"/>
            </a:endParaRPr>
          </a:p>
          <a:p>
            <a:pPr marL="469900" indent="-382270">
              <a:lnSpc>
                <a:spcPct val="100000"/>
              </a:lnSpc>
              <a:spcBef>
                <a:spcPts val="375"/>
              </a:spcBef>
              <a:buClr>
                <a:srgbClr val="0033A0"/>
              </a:buClr>
              <a:buFont typeface="Tahoma"/>
              <a:buChar char="●"/>
              <a:tabLst>
                <a:tab pos="469265" algn="l"/>
                <a:tab pos="469900" algn="l"/>
              </a:tabLst>
            </a:pPr>
            <a:r>
              <a:rPr lang="en-IN" sz="2000" spc="-70" dirty="0" smtClean="0">
                <a:solidFill>
                  <a:srgbClr val="2C2A29"/>
                </a:solidFill>
                <a:latin typeface="Verdana"/>
                <a:cs typeface="Verdana"/>
              </a:rPr>
              <a:t>Continuous data is measured</a:t>
            </a:r>
          </a:p>
          <a:p>
            <a:pPr marL="469900" indent="-382270">
              <a:lnSpc>
                <a:spcPct val="100000"/>
              </a:lnSpc>
              <a:spcBef>
                <a:spcPts val="375"/>
              </a:spcBef>
              <a:buClr>
                <a:srgbClr val="0033A0"/>
              </a:buClr>
              <a:buFont typeface="Tahoma"/>
              <a:buChar char="●"/>
              <a:tabLst>
                <a:tab pos="469265" algn="l"/>
                <a:tab pos="469900" algn="l"/>
              </a:tabLst>
            </a:pPr>
            <a:r>
              <a:rPr sz="2000" spc="-70" smtClean="0">
                <a:solidFill>
                  <a:srgbClr val="2C2A29"/>
                </a:solidFill>
                <a:latin typeface="Verdana"/>
                <a:cs typeface="Verdana"/>
              </a:rPr>
              <a:t>Measures</a:t>
            </a:r>
            <a:r>
              <a:rPr sz="2000" spc="-185" smtClean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are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assumed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to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>
                <a:solidFill>
                  <a:srgbClr val="2C2A29"/>
                </a:solidFill>
                <a:latin typeface="Verdana"/>
                <a:cs typeface="Verdana"/>
              </a:rPr>
              <a:t>be</a:t>
            </a:r>
            <a:r>
              <a:rPr sz="2000" spc="-185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smtClean="0">
                <a:solidFill>
                  <a:srgbClr val="2C2A29"/>
                </a:solidFill>
                <a:latin typeface="Verdana"/>
                <a:cs typeface="Verdana"/>
              </a:rPr>
              <a:t>continuous</a:t>
            </a:r>
            <a:endParaRPr lang="en-IN" sz="2000" spc="-85" dirty="0" smtClean="0">
              <a:solidFill>
                <a:srgbClr val="2C2A29"/>
              </a:solidFill>
              <a:latin typeface="Verdana"/>
              <a:cs typeface="Verdana"/>
            </a:endParaRPr>
          </a:p>
          <a:p>
            <a:pPr marL="469900" indent="-382270">
              <a:lnSpc>
                <a:spcPct val="100000"/>
              </a:lnSpc>
              <a:spcBef>
                <a:spcPts val="375"/>
              </a:spcBef>
              <a:buClr>
                <a:srgbClr val="0033A0"/>
              </a:buClr>
              <a:buFont typeface="Tahoma"/>
              <a:buChar char="●"/>
              <a:tabLst>
                <a:tab pos="469265" algn="l"/>
                <a:tab pos="469900" algn="l"/>
              </a:tabLst>
            </a:pPr>
            <a:endParaRPr sz="20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375" y="4407596"/>
            <a:ext cx="8194524" cy="1665371"/>
          </a:xfrm>
          <a:prstGeom prst="rect">
            <a:avLst/>
          </a:prstGeom>
        </p:spPr>
      </p:pic>
      <p:sp>
        <p:nvSpPr>
          <p:cNvPr id="7" name="object 4"/>
          <p:cNvSpPr txBox="1">
            <a:spLocks noGrp="1"/>
          </p:cNvSpPr>
          <p:nvPr>
            <p:ph type="title"/>
          </p:nvPr>
        </p:nvSpPr>
        <p:spPr>
          <a:xfrm>
            <a:off x="457200" y="274639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 smtClean="0"/>
              <a:t>Continuous VS Discrete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8990" y="90280"/>
            <a:ext cx="1924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033A0"/>
                </a:solidFill>
                <a:latin typeface="PMingLiU-ExtB"/>
                <a:cs typeface="PMingLiU-ExtB"/>
              </a:rPr>
              <a:t>10</a:t>
            </a:r>
            <a:endParaRPr sz="14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5001" y="1511521"/>
            <a:ext cx="7342505" cy="21599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000" b="1" i="1" spc="-190" dirty="0">
                <a:solidFill>
                  <a:srgbClr val="2C2A29"/>
                </a:solidFill>
                <a:latin typeface="Verdana"/>
                <a:cs typeface="Verdana"/>
              </a:rPr>
              <a:t>Discrete</a:t>
            </a:r>
            <a:endParaRPr sz="2000">
              <a:latin typeface="Verdana"/>
              <a:cs typeface="Verdana"/>
            </a:endParaRPr>
          </a:p>
          <a:p>
            <a:pPr marL="469900" indent="-382270">
              <a:lnSpc>
                <a:spcPct val="100000"/>
              </a:lnSpc>
              <a:spcBef>
                <a:spcPts val="375"/>
              </a:spcBef>
              <a:buClr>
                <a:srgbClr val="0033A0"/>
              </a:buClr>
              <a:buFont typeface="Tahoma"/>
              <a:buChar char="●"/>
              <a:tabLst>
                <a:tab pos="469265" algn="l"/>
                <a:tab pos="469900" algn="l"/>
              </a:tabLst>
            </a:pP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“Individually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separate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and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distinct”</a:t>
            </a:r>
            <a:endParaRPr sz="2000">
              <a:latin typeface="Verdana"/>
              <a:cs typeface="Verdana"/>
            </a:endParaRPr>
          </a:p>
          <a:p>
            <a:pPr marL="469900" marR="5080" indent="-382270">
              <a:lnSpc>
                <a:spcPct val="115599"/>
              </a:lnSpc>
              <a:buClr>
                <a:srgbClr val="0033A0"/>
              </a:buClr>
              <a:buFont typeface="Tahoma"/>
              <a:buChar char="●"/>
              <a:tabLst>
                <a:tab pos="469265" algn="l"/>
                <a:tab pos="469900" algn="l"/>
              </a:tabLst>
            </a:pPr>
            <a:r>
              <a:rPr sz="2000" spc="-35" dirty="0">
                <a:solidFill>
                  <a:srgbClr val="2C2A29"/>
                </a:solidFill>
                <a:latin typeface="Verdana"/>
                <a:cs typeface="Verdana"/>
              </a:rPr>
              <a:t>Placing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C2A29"/>
                </a:solidFill>
                <a:latin typeface="Verdana"/>
                <a:cs typeface="Verdana"/>
              </a:rPr>
              <a:t>a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discrete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value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on</a:t>
            </a:r>
            <a:r>
              <a:rPr sz="2000" spc="-19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b="1" spc="-35" dirty="0">
                <a:solidFill>
                  <a:srgbClr val="2C2A29"/>
                </a:solidFill>
                <a:latin typeface="Tahoma"/>
                <a:cs typeface="Tahoma"/>
              </a:rPr>
              <a:t>Rows</a:t>
            </a:r>
            <a:r>
              <a:rPr sz="2000" b="1" spc="-40" dirty="0">
                <a:solidFill>
                  <a:srgbClr val="2C2A29"/>
                </a:solidFill>
                <a:latin typeface="Tahoma"/>
                <a:cs typeface="Tahom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or</a:t>
            </a:r>
            <a:r>
              <a:rPr sz="2000" spc="-15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b="1" spc="-60" dirty="0">
                <a:solidFill>
                  <a:srgbClr val="2C2A29"/>
                </a:solidFill>
                <a:latin typeface="Tahoma"/>
                <a:cs typeface="Tahoma"/>
              </a:rPr>
              <a:t>Columns</a:t>
            </a:r>
            <a:r>
              <a:rPr sz="2000" b="1" spc="-40" dirty="0">
                <a:solidFill>
                  <a:srgbClr val="2C2A29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shelf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creates </a:t>
            </a:r>
            <a:r>
              <a:rPr sz="2000" spc="-69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headers</a:t>
            </a:r>
            <a:endParaRPr sz="2000">
              <a:latin typeface="Verdana"/>
              <a:cs typeface="Verdana"/>
            </a:endParaRPr>
          </a:p>
          <a:p>
            <a:pPr marL="469900" indent="-382270">
              <a:lnSpc>
                <a:spcPct val="100000"/>
              </a:lnSpc>
              <a:spcBef>
                <a:spcPts val="375"/>
              </a:spcBef>
              <a:buClr>
                <a:srgbClr val="0033A0"/>
              </a:buClr>
              <a:buFont typeface="Tahoma"/>
              <a:buChar char="●"/>
              <a:tabLst>
                <a:tab pos="469265" algn="l"/>
                <a:tab pos="469900" algn="l"/>
              </a:tabLst>
            </a:pP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Dimensions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are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assumed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to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>
                <a:solidFill>
                  <a:srgbClr val="2C2A29"/>
                </a:solidFill>
                <a:latin typeface="Verdana"/>
                <a:cs typeface="Verdana"/>
              </a:rPr>
              <a:t>be</a:t>
            </a:r>
            <a:r>
              <a:rPr sz="2000" spc="-185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smtClean="0">
                <a:solidFill>
                  <a:srgbClr val="2C2A29"/>
                </a:solidFill>
                <a:latin typeface="Verdana"/>
                <a:cs typeface="Verdana"/>
              </a:rPr>
              <a:t>discrete</a:t>
            </a:r>
            <a:endParaRPr lang="en-IN" sz="2000" spc="-85" dirty="0" smtClean="0">
              <a:solidFill>
                <a:srgbClr val="2C2A29"/>
              </a:solidFill>
              <a:latin typeface="Verdana"/>
              <a:cs typeface="Verdana"/>
            </a:endParaRPr>
          </a:p>
          <a:p>
            <a:pPr marL="469900" indent="-382270">
              <a:lnSpc>
                <a:spcPct val="100000"/>
              </a:lnSpc>
              <a:spcBef>
                <a:spcPts val="375"/>
              </a:spcBef>
              <a:buClr>
                <a:srgbClr val="0033A0"/>
              </a:buClr>
              <a:buFont typeface="Tahoma"/>
              <a:buChar char="●"/>
              <a:tabLst>
                <a:tab pos="469265" algn="l"/>
                <a:tab pos="469900" algn="l"/>
              </a:tabLst>
            </a:pPr>
            <a:r>
              <a:rPr lang="en-IN" sz="2000" spc="-85" dirty="0" smtClean="0">
                <a:solidFill>
                  <a:srgbClr val="2C2A29"/>
                </a:solidFill>
                <a:latin typeface="Verdana"/>
                <a:cs typeface="Verdana"/>
              </a:rPr>
              <a:t>Discrete data is counted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934386" y="4138130"/>
            <a:ext cx="3683635" cy="2526452"/>
            <a:chOff x="2934385" y="3103597"/>
            <a:chExt cx="3683635" cy="189483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4385" y="3103597"/>
              <a:ext cx="3275224" cy="189457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034943" y="3830425"/>
              <a:ext cx="568960" cy="422909"/>
            </a:xfrm>
            <a:custGeom>
              <a:avLst/>
              <a:gdLst/>
              <a:ahLst/>
              <a:cxnLst/>
              <a:rect l="l" t="t" r="r" b="b"/>
              <a:pathLst>
                <a:path w="568959" h="422910">
                  <a:moveTo>
                    <a:pt x="568606" y="0"/>
                  </a:moveTo>
                  <a:lnTo>
                    <a:pt x="0" y="42271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6587" y="4200970"/>
              <a:ext cx="160803" cy="14381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676575" y="4775249"/>
            <a:ext cx="14325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45" dirty="0">
                <a:latin typeface="Tahoma"/>
                <a:cs typeface="Tahoma"/>
              </a:rPr>
              <a:t>Column</a:t>
            </a:r>
            <a:r>
              <a:rPr sz="1400" b="1" spc="-30" dirty="0">
                <a:latin typeface="Tahoma"/>
                <a:cs typeface="Tahoma"/>
              </a:rPr>
              <a:t> Headers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Continuous VS Discrete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8990" y="90280"/>
            <a:ext cx="1924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033A0"/>
                </a:solidFill>
                <a:latin typeface="PMingLiU-ExtB"/>
                <a:cs typeface="PMingLiU-ExtB"/>
              </a:rPr>
              <a:t>11</a:t>
            </a:r>
            <a:endParaRPr sz="14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9792" y="1575119"/>
            <a:ext cx="5645150" cy="144590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94335" indent="-382270">
              <a:lnSpc>
                <a:spcPct val="100000"/>
              </a:lnSpc>
              <a:spcBef>
                <a:spcPts val="475"/>
              </a:spcBef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spc="-95" dirty="0">
                <a:solidFill>
                  <a:srgbClr val="2C2A29"/>
                </a:solidFill>
                <a:latin typeface="Verdana"/>
                <a:cs typeface="Verdana"/>
              </a:rPr>
              <a:t>Gender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is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discrete</a:t>
            </a:r>
            <a:endParaRPr sz="2000">
              <a:latin typeface="Verdana"/>
              <a:cs typeface="Verdana"/>
            </a:endParaRPr>
          </a:p>
          <a:p>
            <a:pPr marL="851535" lvl="1" indent="-382270">
              <a:lnSpc>
                <a:spcPct val="100000"/>
              </a:lnSpc>
              <a:spcBef>
                <a:spcPts val="375"/>
              </a:spcBef>
              <a:buFont typeface="Tahoma"/>
              <a:buChar char="○"/>
              <a:tabLst>
                <a:tab pos="851535" algn="l"/>
                <a:tab pos="852169" algn="l"/>
              </a:tabLst>
            </a:pP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Creates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headers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for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gender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options</a:t>
            </a:r>
            <a:endParaRPr sz="2000">
              <a:latin typeface="Verdana"/>
              <a:cs typeface="Verdana"/>
            </a:endParaRPr>
          </a:p>
          <a:p>
            <a:pPr marL="394335" indent="-382270">
              <a:lnSpc>
                <a:spcPct val="100000"/>
              </a:lnSpc>
              <a:spcBef>
                <a:spcPts val="375"/>
              </a:spcBef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Number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of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Records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is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continuous</a:t>
            </a:r>
            <a:endParaRPr sz="2000">
              <a:latin typeface="Verdana"/>
              <a:cs typeface="Verdana"/>
            </a:endParaRPr>
          </a:p>
          <a:p>
            <a:pPr marL="851535" lvl="1" indent="-382270">
              <a:lnSpc>
                <a:spcPct val="100000"/>
              </a:lnSpc>
              <a:spcBef>
                <a:spcPts val="375"/>
              </a:spcBef>
              <a:buClr>
                <a:srgbClr val="0033A0"/>
              </a:buClr>
              <a:buFont typeface="Tahoma"/>
              <a:buChar char="○"/>
              <a:tabLst>
                <a:tab pos="851535" algn="l"/>
                <a:tab pos="852169" algn="l"/>
              </a:tabLst>
            </a:pP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Creates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2C2A29"/>
                </a:solidFill>
                <a:latin typeface="Verdana"/>
                <a:cs typeface="Verdana"/>
              </a:rPr>
              <a:t>axis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to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measure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aggregation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44" y="3357562"/>
            <a:ext cx="8786874" cy="3357585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Continuous VS Discrete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8990" y="90280"/>
            <a:ext cx="1924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033A0"/>
                </a:solidFill>
                <a:latin typeface="PMingLiU-ExtB"/>
                <a:cs typeface="PMingLiU-ExtB"/>
              </a:rPr>
              <a:t>12</a:t>
            </a:r>
            <a:endParaRPr sz="14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9793" y="1575118"/>
            <a:ext cx="3612515" cy="727763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94335" indent="-382270">
              <a:lnSpc>
                <a:spcPct val="100000"/>
              </a:lnSpc>
              <a:spcBef>
                <a:spcPts val="475"/>
              </a:spcBef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Discrete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fields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are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blue</a:t>
            </a:r>
            <a:endParaRPr sz="2000">
              <a:latin typeface="Verdana"/>
              <a:cs typeface="Verdana"/>
            </a:endParaRPr>
          </a:p>
          <a:p>
            <a:pPr marL="394335" indent="-382270">
              <a:lnSpc>
                <a:spcPct val="100000"/>
              </a:lnSpc>
              <a:spcBef>
                <a:spcPts val="375"/>
              </a:spcBef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Continuous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fields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are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2C2A29"/>
                </a:solidFill>
                <a:latin typeface="Verdana"/>
                <a:cs typeface="Verdana"/>
              </a:rPr>
              <a:t>green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2200" y="2965033"/>
            <a:ext cx="2299999" cy="6535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18651" y="1704901"/>
            <a:ext cx="2347099" cy="524799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Continuous VS Discrete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8990" y="90280"/>
            <a:ext cx="1924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033A0"/>
                </a:solidFill>
                <a:latin typeface="PMingLiU-ExtB"/>
                <a:cs typeface="PMingLiU-ExtB"/>
              </a:rPr>
              <a:t>13</a:t>
            </a:r>
            <a:endParaRPr sz="14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5000" y="1511521"/>
            <a:ext cx="4361180" cy="2512867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000" b="1" i="1" spc="-185" dirty="0">
                <a:solidFill>
                  <a:srgbClr val="2C2A29"/>
                </a:solidFill>
                <a:latin typeface="Verdana"/>
                <a:cs typeface="Verdana"/>
              </a:rPr>
              <a:t>Universally</a:t>
            </a:r>
            <a:endParaRPr sz="2000">
              <a:latin typeface="Verdana"/>
              <a:cs typeface="Verdana"/>
            </a:endParaRPr>
          </a:p>
          <a:p>
            <a:pPr marL="469900" marR="173990" indent="-382270">
              <a:lnSpc>
                <a:spcPct val="115599"/>
              </a:lnSpc>
              <a:buClr>
                <a:srgbClr val="0033A0"/>
              </a:buClr>
              <a:buFont typeface="Tahoma"/>
              <a:buChar char="●"/>
              <a:tabLst>
                <a:tab pos="469265" algn="l"/>
                <a:tab pos="469900" algn="l"/>
              </a:tabLst>
            </a:pP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Right-click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on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field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in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2C2A29"/>
                </a:solidFill>
                <a:latin typeface="Verdana"/>
                <a:cs typeface="Verdana"/>
              </a:rPr>
              <a:t>data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2C2A29"/>
                </a:solidFill>
                <a:latin typeface="Verdana"/>
                <a:cs typeface="Verdana"/>
              </a:rPr>
              <a:t>pane 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and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select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b="1" spc="-60" dirty="0">
                <a:solidFill>
                  <a:srgbClr val="2C2A29"/>
                </a:solidFill>
                <a:latin typeface="Tahoma"/>
                <a:cs typeface="Tahoma"/>
              </a:rPr>
              <a:t>Convert</a:t>
            </a:r>
            <a:r>
              <a:rPr sz="2000" b="1" spc="-40" dirty="0">
                <a:solidFill>
                  <a:srgbClr val="2C2A29"/>
                </a:solidFill>
                <a:latin typeface="Tahoma"/>
                <a:cs typeface="Tahoma"/>
              </a:rPr>
              <a:t> </a:t>
            </a:r>
            <a:r>
              <a:rPr sz="2000" b="1" spc="-65" dirty="0">
                <a:solidFill>
                  <a:srgbClr val="2C2A29"/>
                </a:solidFill>
                <a:latin typeface="Tahoma"/>
                <a:cs typeface="Tahoma"/>
              </a:rPr>
              <a:t>to</a:t>
            </a:r>
            <a:r>
              <a:rPr sz="2000" b="1" spc="-40" dirty="0">
                <a:solidFill>
                  <a:srgbClr val="2C2A29"/>
                </a:solidFill>
                <a:latin typeface="Tahoma"/>
                <a:cs typeface="Tahoma"/>
              </a:rPr>
              <a:t> </a:t>
            </a:r>
            <a:r>
              <a:rPr sz="2000" b="1" spc="-60" dirty="0">
                <a:solidFill>
                  <a:srgbClr val="2C2A29"/>
                </a:solidFill>
                <a:latin typeface="Tahoma"/>
                <a:cs typeface="Tahoma"/>
              </a:rPr>
              <a:t>Discrete  </a:t>
            </a:r>
            <a:r>
              <a:rPr sz="2000" b="1" spc="-85" dirty="0">
                <a:solidFill>
                  <a:srgbClr val="2C2A29"/>
                </a:solidFill>
                <a:latin typeface="Tahoma"/>
                <a:cs typeface="Tahoma"/>
              </a:rPr>
              <a:t>(Continuous)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000" b="1" i="1" spc="-195" dirty="0">
                <a:solidFill>
                  <a:srgbClr val="2C2A29"/>
                </a:solidFill>
                <a:latin typeface="Verdana"/>
                <a:cs typeface="Verdana"/>
              </a:rPr>
              <a:t>One-time</a:t>
            </a:r>
            <a:r>
              <a:rPr sz="2000" b="1" i="1" spc="-14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b="1" i="1" spc="-185" dirty="0">
                <a:solidFill>
                  <a:srgbClr val="2C2A29"/>
                </a:solidFill>
                <a:latin typeface="Verdana"/>
                <a:cs typeface="Verdana"/>
              </a:rPr>
              <a:t>Only</a:t>
            </a:r>
            <a:endParaRPr sz="2000">
              <a:latin typeface="Verdana"/>
              <a:cs typeface="Verdana"/>
            </a:endParaRPr>
          </a:p>
          <a:p>
            <a:pPr marL="469900" marR="5080" indent="-382270">
              <a:lnSpc>
                <a:spcPct val="115599"/>
              </a:lnSpc>
              <a:buClr>
                <a:srgbClr val="0033A0"/>
              </a:buClr>
              <a:buFont typeface="Tahoma"/>
              <a:buChar char="●"/>
              <a:tabLst>
                <a:tab pos="469265" algn="l"/>
                <a:tab pos="469900" algn="l"/>
              </a:tabLst>
            </a:pP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Right-click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on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field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on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viz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2C2A29"/>
                </a:solidFill>
                <a:latin typeface="Verdana"/>
                <a:cs typeface="Verdana"/>
              </a:rPr>
              <a:t>and 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select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b="1" spc="-65" dirty="0">
                <a:solidFill>
                  <a:srgbClr val="2C2A29"/>
                </a:solidFill>
                <a:latin typeface="Tahoma"/>
                <a:cs typeface="Tahoma"/>
              </a:rPr>
              <a:t>Discrete</a:t>
            </a:r>
            <a:r>
              <a:rPr sz="2000" b="1" spc="-40" dirty="0">
                <a:solidFill>
                  <a:srgbClr val="2C2A29"/>
                </a:solidFill>
                <a:latin typeface="Tahoma"/>
                <a:cs typeface="Tahoma"/>
              </a:rPr>
              <a:t> </a:t>
            </a:r>
            <a:r>
              <a:rPr sz="2000" b="1" spc="-85" dirty="0">
                <a:solidFill>
                  <a:srgbClr val="2C2A29"/>
                </a:solidFill>
                <a:latin typeface="Tahoma"/>
                <a:cs typeface="Tahoma"/>
              </a:rPr>
              <a:t>(Continuous)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71538" y="0"/>
            <a:ext cx="7358114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solidFill>
                  <a:srgbClr val="2C2A29"/>
                </a:solidFill>
              </a:rPr>
              <a:t>Switching</a:t>
            </a:r>
            <a:r>
              <a:rPr spc="-70" dirty="0">
                <a:solidFill>
                  <a:srgbClr val="2C2A29"/>
                </a:solidFill>
              </a:rPr>
              <a:t> </a:t>
            </a:r>
            <a:r>
              <a:rPr spc="-75" dirty="0">
                <a:solidFill>
                  <a:srgbClr val="2C2A29"/>
                </a:solidFill>
              </a:rPr>
              <a:t>Discrete</a:t>
            </a:r>
            <a:r>
              <a:rPr spc="-65" dirty="0">
                <a:solidFill>
                  <a:srgbClr val="2C2A29"/>
                </a:solidFill>
              </a:rPr>
              <a:t> </a:t>
            </a:r>
            <a:r>
              <a:rPr spc="-25" dirty="0">
                <a:solidFill>
                  <a:srgbClr val="2C2A29"/>
                </a:solidFill>
              </a:rPr>
              <a:t>and</a:t>
            </a:r>
            <a:r>
              <a:rPr spc="-65" dirty="0">
                <a:solidFill>
                  <a:srgbClr val="2C2A29"/>
                </a:solidFill>
              </a:rPr>
              <a:t> </a:t>
            </a:r>
            <a:r>
              <a:rPr spc="-70" dirty="0">
                <a:solidFill>
                  <a:srgbClr val="2C2A29"/>
                </a:solidFill>
              </a:rPr>
              <a:t>Continuous</a:t>
            </a:r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6848" y="1554800"/>
            <a:ext cx="3822573" cy="22505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06938" y="4044833"/>
            <a:ext cx="2202399" cy="257423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8990" y="90280"/>
            <a:ext cx="1924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033A0"/>
                </a:solidFill>
                <a:latin typeface="PMingLiU-ExtB"/>
                <a:cs typeface="PMingLiU-ExtB"/>
              </a:rPr>
              <a:t>14</a:t>
            </a:r>
            <a:endParaRPr sz="14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0242" y="1511521"/>
            <a:ext cx="8020050" cy="2519023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94335" indent="-382270">
              <a:lnSpc>
                <a:spcPct val="100000"/>
              </a:lnSpc>
              <a:spcBef>
                <a:spcPts val="475"/>
              </a:spcBef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spc="-60" dirty="0">
                <a:solidFill>
                  <a:srgbClr val="2C2A29"/>
                </a:solidFill>
                <a:latin typeface="Verdana"/>
                <a:cs typeface="Verdana"/>
              </a:rPr>
              <a:t>Dates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can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be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either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continuous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or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discrete</a:t>
            </a:r>
            <a:endParaRPr sz="2000">
              <a:latin typeface="Verdana"/>
              <a:cs typeface="Verdana"/>
            </a:endParaRPr>
          </a:p>
          <a:p>
            <a:pPr marL="394335" marR="5080" indent="-382270">
              <a:lnSpc>
                <a:spcPct val="115599"/>
              </a:lnSpc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b="1" i="1" spc="-200" dirty="0">
                <a:solidFill>
                  <a:srgbClr val="2C2A29"/>
                </a:solidFill>
                <a:latin typeface="Verdana"/>
                <a:cs typeface="Verdana"/>
              </a:rPr>
              <a:t>Continuous:</a:t>
            </a:r>
            <a:r>
              <a:rPr sz="2000" b="1" i="1" spc="-14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2C2A29"/>
                </a:solidFill>
                <a:latin typeface="Verdana"/>
                <a:cs typeface="Verdana"/>
              </a:rPr>
              <a:t>represent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chronological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progression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of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45" dirty="0">
                <a:solidFill>
                  <a:srgbClr val="2C2A29"/>
                </a:solidFill>
                <a:latin typeface="Verdana"/>
                <a:cs typeface="Verdana"/>
              </a:rPr>
              <a:t>time,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2C2A29"/>
                </a:solidFill>
                <a:latin typeface="Verdana"/>
                <a:cs typeface="Verdana"/>
              </a:rPr>
              <a:t>axis </a:t>
            </a:r>
            <a:r>
              <a:rPr sz="2000" spc="-6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acts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2C2A29"/>
                </a:solidFill>
                <a:latin typeface="Verdana"/>
                <a:cs typeface="Verdana"/>
              </a:rPr>
              <a:t>as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C2A29"/>
                </a:solidFill>
                <a:latin typeface="Verdana"/>
                <a:cs typeface="Verdana"/>
              </a:rPr>
              <a:t>a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timeline</a:t>
            </a:r>
            <a:endParaRPr sz="2000">
              <a:latin typeface="Verdana"/>
              <a:cs typeface="Verdana"/>
            </a:endParaRPr>
          </a:p>
          <a:p>
            <a:pPr marL="851535" lvl="1" indent="-382270">
              <a:lnSpc>
                <a:spcPct val="100000"/>
              </a:lnSpc>
              <a:spcBef>
                <a:spcPts val="375"/>
              </a:spcBef>
              <a:buFont typeface="Tahoma"/>
              <a:buChar char="○"/>
              <a:tabLst>
                <a:tab pos="851535" algn="l"/>
                <a:tab pos="852169" algn="l"/>
              </a:tabLst>
            </a:pPr>
            <a:r>
              <a:rPr sz="2000" spc="-45" dirty="0">
                <a:solidFill>
                  <a:srgbClr val="2C2A29"/>
                </a:solidFill>
                <a:latin typeface="Verdana"/>
                <a:cs typeface="Verdana"/>
              </a:rPr>
              <a:t>Associates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20" dirty="0">
                <a:solidFill>
                  <a:srgbClr val="2C2A29"/>
                </a:solidFill>
                <a:latin typeface="Verdana"/>
                <a:cs typeface="Verdana"/>
              </a:rPr>
              <a:t>every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part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of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2C2A29"/>
                </a:solidFill>
                <a:latin typeface="Verdana"/>
                <a:cs typeface="Verdana"/>
              </a:rPr>
              <a:t>date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2C2A29"/>
                </a:solidFill>
                <a:latin typeface="Verdana"/>
                <a:cs typeface="Verdana"/>
              </a:rPr>
              <a:t>with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C2A29"/>
                </a:solidFill>
                <a:latin typeface="Verdana"/>
                <a:cs typeface="Verdana"/>
              </a:rPr>
              <a:t>a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particular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2C2A29"/>
                </a:solidFill>
                <a:latin typeface="Verdana"/>
                <a:cs typeface="Verdana"/>
              </a:rPr>
              <a:t>date</a:t>
            </a:r>
            <a:endParaRPr sz="2000">
              <a:latin typeface="Verdana"/>
              <a:cs typeface="Verdana"/>
            </a:endParaRPr>
          </a:p>
          <a:p>
            <a:pPr marL="851535" lvl="1" indent="-382270">
              <a:lnSpc>
                <a:spcPct val="100000"/>
              </a:lnSpc>
              <a:spcBef>
                <a:spcPts val="375"/>
              </a:spcBef>
              <a:buFont typeface="Tahoma"/>
              <a:buChar char="○"/>
              <a:tabLst>
                <a:tab pos="851535" algn="l"/>
                <a:tab pos="852169" algn="l"/>
              </a:tabLst>
            </a:pPr>
            <a:r>
              <a:rPr sz="2000" spc="-245" dirty="0">
                <a:solidFill>
                  <a:srgbClr val="2C2A29"/>
                </a:solidFill>
                <a:latin typeface="Verdana"/>
                <a:cs typeface="Verdana"/>
              </a:rPr>
              <a:t>I.e.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2C2A29"/>
                </a:solidFill>
                <a:latin typeface="Verdana"/>
                <a:cs typeface="Verdana"/>
              </a:rPr>
              <a:t>May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35" dirty="0">
                <a:solidFill>
                  <a:srgbClr val="2C2A29"/>
                </a:solidFill>
                <a:latin typeface="Verdana"/>
                <a:cs typeface="Verdana"/>
              </a:rPr>
              <a:t>5th,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2017</a:t>
            </a:r>
            <a:endParaRPr sz="2000">
              <a:latin typeface="Verdana"/>
              <a:cs typeface="Verdana"/>
            </a:endParaRPr>
          </a:p>
          <a:p>
            <a:pPr marL="381635" marR="1289050" indent="-381635" algn="r">
              <a:lnSpc>
                <a:spcPct val="100000"/>
              </a:lnSpc>
              <a:spcBef>
                <a:spcPts val="375"/>
              </a:spcBef>
              <a:buClr>
                <a:srgbClr val="0033A0"/>
              </a:buClr>
              <a:buFont typeface="Tahoma"/>
              <a:buChar char="●"/>
              <a:tabLst>
                <a:tab pos="381635" algn="l"/>
                <a:tab pos="394970" algn="l"/>
              </a:tabLst>
            </a:pPr>
            <a:r>
              <a:rPr sz="2000" b="1" i="1" spc="-200" dirty="0">
                <a:solidFill>
                  <a:srgbClr val="2C2A29"/>
                </a:solidFill>
                <a:latin typeface="Verdana"/>
                <a:cs typeface="Verdana"/>
              </a:rPr>
              <a:t>Discrete:</a:t>
            </a:r>
            <a:r>
              <a:rPr sz="2000" b="1" i="1" spc="-14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2C2A29"/>
                </a:solidFill>
                <a:latin typeface="Verdana"/>
                <a:cs typeface="Verdana"/>
              </a:rPr>
              <a:t>represent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pieces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of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C2A29"/>
                </a:solidFill>
                <a:latin typeface="Verdana"/>
                <a:cs typeface="Verdana"/>
              </a:rPr>
              <a:t>a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2C2A29"/>
                </a:solidFill>
                <a:latin typeface="Verdana"/>
                <a:cs typeface="Verdana"/>
              </a:rPr>
              <a:t>date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independently</a:t>
            </a:r>
            <a:endParaRPr sz="2000">
              <a:latin typeface="Verdana"/>
              <a:cs typeface="Verdana"/>
            </a:endParaRPr>
          </a:p>
          <a:p>
            <a:pPr marL="381635" marR="1263015" lvl="1" indent="-381635" algn="r">
              <a:lnSpc>
                <a:spcPct val="100000"/>
              </a:lnSpc>
              <a:spcBef>
                <a:spcPts val="375"/>
              </a:spcBef>
              <a:buClr>
                <a:srgbClr val="0033A0"/>
              </a:buClr>
              <a:buFont typeface="Tahoma"/>
              <a:buChar char="○"/>
              <a:tabLst>
                <a:tab pos="381635" algn="l"/>
                <a:tab pos="382270" algn="l"/>
              </a:tabLst>
            </a:pPr>
            <a:r>
              <a:rPr sz="2000" spc="-245" dirty="0">
                <a:solidFill>
                  <a:srgbClr val="2C2A29"/>
                </a:solidFill>
                <a:latin typeface="Verdana"/>
                <a:cs typeface="Verdana"/>
              </a:rPr>
              <a:t>I.e.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2C2A29"/>
                </a:solidFill>
                <a:latin typeface="Verdana"/>
                <a:cs typeface="Verdana"/>
              </a:rPr>
              <a:t>May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is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35" dirty="0">
                <a:solidFill>
                  <a:srgbClr val="2C2A29"/>
                </a:solidFill>
                <a:latin typeface="Verdana"/>
                <a:cs typeface="Verdana"/>
              </a:rPr>
              <a:t>month,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5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is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10" dirty="0">
                <a:solidFill>
                  <a:srgbClr val="2C2A29"/>
                </a:solidFill>
                <a:latin typeface="Verdana"/>
                <a:cs typeface="Verdana"/>
              </a:rPr>
              <a:t>day,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2017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is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year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9125" y="834311"/>
            <a:ext cx="21805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0" dirty="0">
                <a:solidFill>
                  <a:srgbClr val="2C2A29"/>
                </a:solidFill>
              </a:rPr>
              <a:t>Caution:</a:t>
            </a:r>
            <a:r>
              <a:rPr sz="2400" spc="-50" dirty="0">
                <a:solidFill>
                  <a:srgbClr val="2C2A29"/>
                </a:solidFill>
              </a:rPr>
              <a:t> </a:t>
            </a:r>
            <a:r>
              <a:rPr sz="2400" spc="-35" dirty="0">
                <a:solidFill>
                  <a:srgbClr val="2C2A29"/>
                </a:solidFill>
              </a:rPr>
              <a:t>Dates</a:t>
            </a: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8990" y="90280"/>
            <a:ext cx="1924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033A0"/>
                </a:solidFill>
                <a:latin typeface="PMingLiU-ExtB"/>
                <a:cs typeface="PMingLiU-ExtB"/>
              </a:rPr>
              <a:t>15</a:t>
            </a:r>
            <a:endParaRPr sz="14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71604" y="0"/>
            <a:ext cx="685804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0" dirty="0">
                <a:solidFill>
                  <a:srgbClr val="2C2A29"/>
                </a:solidFill>
              </a:rPr>
              <a:t>Continuous</a:t>
            </a:r>
            <a:r>
              <a:rPr sz="3600" spc="-50" dirty="0">
                <a:solidFill>
                  <a:srgbClr val="2C2A29"/>
                </a:solidFill>
              </a:rPr>
              <a:t> </a:t>
            </a:r>
            <a:r>
              <a:rPr sz="3600" spc="-120" dirty="0">
                <a:solidFill>
                  <a:srgbClr val="2C2A29"/>
                </a:solidFill>
              </a:rPr>
              <a:t>v.</a:t>
            </a:r>
            <a:r>
              <a:rPr sz="3600" spc="-50" dirty="0">
                <a:solidFill>
                  <a:srgbClr val="2C2A29"/>
                </a:solidFill>
              </a:rPr>
              <a:t> </a:t>
            </a:r>
            <a:r>
              <a:rPr sz="3600" spc="-75" dirty="0">
                <a:solidFill>
                  <a:srgbClr val="2C2A29"/>
                </a:solidFill>
              </a:rPr>
              <a:t>Discrete</a:t>
            </a:r>
            <a:r>
              <a:rPr sz="3600" spc="-50" dirty="0">
                <a:solidFill>
                  <a:srgbClr val="2C2A29"/>
                </a:solidFill>
              </a:rPr>
              <a:t> </a:t>
            </a:r>
            <a:r>
              <a:rPr sz="3600" spc="-35" dirty="0">
                <a:solidFill>
                  <a:srgbClr val="2C2A29"/>
                </a:solidFill>
              </a:rPr>
              <a:t>Dates</a:t>
            </a:r>
            <a:r>
              <a:rPr sz="3600" spc="-50" dirty="0">
                <a:solidFill>
                  <a:srgbClr val="2C2A29"/>
                </a:solidFill>
              </a:rPr>
              <a:t> </a:t>
            </a:r>
            <a:r>
              <a:rPr sz="3600" spc="-75" dirty="0">
                <a:solidFill>
                  <a:srgbClr val="2C2A29"/>
                </a:solidFill>
              </a:rPr>
              <a:t>Example</a:t>
            </a:r>
            <a:endParaRPr sz="3600"/>
          </a:p>
        </p:txBody>
      </p:sp>
      <p:grpSp>
        <p:nvGrpSpPr>
          <p:cNvPr id="4" name="object 4"/>
          <p:cNvGrpSpPr/>
          <p:nvPr/>
        </p:nvGrpSpPr>
        <p:grpSpPr>
          <a:xfrm>
            <a:off x="6809837" y="667983"/>
            <a:ext cx="1573530" cy="5600700"/>
            <a:chOff x="6809837" y="500987"/>
            <a:chExt cx="1573530" cy="4200525"/>
          </a:xfrm>
        </p:grpSpPr>
        <p:sp>
          <p:nvSpPr>
            <p:cNvPr id="5" name="object 5"/>
            <p:cNvSpPr/>
            <p:nvPr/>
          </p:nvSpPr>
          <p:spPr>
            <a:xfrm>
              <a:off x="6814600" y="505749"/>
              <a:ext cx="1564005" cy="4191000"/>
            </a:xfrm>
            <a:custGeom>
              <a:avLst/>
              <a:gdLst/>
              <a:ahLst/>
              <a:cxnLst/>
              <a:rect l="l" t="t" r="r" b="b"/>
              <a:pathLst>
                <a:path w="1564004" h="4191000">
                  <a:moveTo>
                    <a:pt x="0" y="0"/>
                  </a:moveTo>
                  <a:lnTo>
                    <a:pt x="1563899" y="0"/>
                  </a:lnTo>
                  <a:lnTo>
                    <a:pt x="1563899" y="4190999"/>
                  </a:lnTo>
                  <a:lnTo>
                    <a:pt x="0" y="4190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4588" y="505762"/>
              <a:ext cx="1462074" cy="41319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93801" y="6337149"/>
            <a:ext cx="9874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45" dirty="0">
                <a:latin typeface="Tahoma"/>
                <a:cs typeface="Tahoma"/>
              </a:rPr>
              <a:t>Continuous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2212" y="1508949"/>
            <a:ext cx="4997324" cy="46810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192426" y="6378751"/>
            <a:ext cx="71818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45" dirty="0">
                <a:latin typeface="Tahoma"/>
                <a:cs typeface="Tahoma"/>
              </a:rPr>
              <a:t>Discrete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8990" y="90280"/>
            <a:ext cx="1924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033A0"/>
                </a:solidFill>
                <a:latin typeface="PMingLiU-ExtB"/>
                <a:cs typeface="PMingLiU-ExtB"/>
              </a:rPr>
              <a:t>16</a:t>
            </a:r>
            <a:endParaRPr sz="14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0243" y="1511521"/>
            <a:ext cx="4232275" cy="1082732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94335" indent="-382270">
              <a:lnSpc>
                <a:spcPct val="100000"/>
              </a:lnSpc>
              <a:spcBef>
                <a:spcPts val="475"/>
              </a:spcBef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Right-click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on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2C2A29"/>
                </a:solidFill>
                <a:latin typeface="Verdana"/>
                <a:cs typeface="Verdana"/>
              </a:rPr>
              <a:t>date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field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on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viz</a:t>
            </a:r>
            <a:endParaRPr sz="2000">
              <a:latin typeface="Verdana"/>
              <a:cs typeface="Verdana"/>
            </a:endParaRPr>
          </a:p>
          <a:p>
            <a:pPr marL="394335" marR="5080" indent="-382270">
              <a:lnSpc>
                <a:spcPct val="115599"/>
              </a:lnSpc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spc="-95" dirty="0">
                <a:solidFill>
                  <a:srgbClr val="2C2A29"/>
                </a:solidFill>
                <a:latin typeface="Verdana"/>
                <a:cs typeface="Verdana"/>
              </a:rPr>
              <a:t>Select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appropriate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2C2A29"/>
                </a:solidFill>
                <a:latin typeface="Verdana"/>
                <a:cs typeface="Verdana"/>
              </a:rPr>
              <a:t>date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part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2C2A29"/>
                </a:solidFill>
                <a:latin typeface="Verdana"/>
                <a:cs typeface="Verdana"/>
              </a:rPr>
              <a:t>and 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representation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00034" y="214290"/>
            <a:ext cx="828680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60" dirty="0">
                <a:solidFill>
                  <a:srgbClr val="2C2A29"/>
                </a:solidFill>
              </a:rPr>
              <a:t>Switching</a:t>
            </a:r>
            <a:r>
              <a:rPr sz="4000" spc="-65" dirty="0">
                <a:solidFill>
                  <a:srgbClr val="2C2A29"/>
                </a:solidFill>
              </a:rPr>
              <a:t> </a:t>
            </a:r>
            <a:r>
              <a:rPr sz="4000" spc="-70" dirty="0">
                <a:solidFill>
                  <a:srgbClr val="2C2A29"/>
                </a:solidFill>
              </a:rPr>
              <a:t>Continuous</a:t>
            </a:r>
            <a:r>
              <a:rPr sz="4000" spc="-60" dirty="0">
                <a:solidFill>
                  <a:srgbClr val="2C2A29"/>
                </a:solidFill>
              </a:rPr>
              <a:t> </a:t>
            </a:r>
            <a:r>
              <a:rPr sz="4000" spc="-25" dirty="0">
                <a:solidFill>
                  <a:srgbClr val="2C2A29"/>
                </a:solidFill>
              </a:rPr>
              <a:t>and</a:t>
            </a:r>
            <a:r>
              <a:rPr sz="4000" spc="-60" dirty="0">
                <a:solidFill>
                  <a:srgbClr val="2C2A29"/>
                </a:solidFill>
              </a:rPr>
              <a:t> </a:t>
            </a:r>
            <a:r>
              <a:rPr sz="4000" spc="-75" dirty="0">
                <a:solidFill>
                  <a:srgbClr val="2C2A29"/>
                </a:solidFill>
              </a:rPr>
              <a:t>Discrete</a:t>
            </a:r>
            <a:r>
              <a:rPr sz="4000" spc="-60" dirty="0">
                <a:solidFill>
                  <a:srgbClr val="2C2A29"/>
                </a:solidFill>
              </a:rPr>
              <a:t> </a:t>
            </a:r>
            <a:r>
              <a:rPr sz="4000" spc="-35" dirty="0">
                <a:solidFill>
                  <a:srgbClr val="2C2A29"/>
                </a:solidFill>
              </a:rPr>
              <a:t>Dates</a:t>
            </a:r>
            <a:endParaRPr sz="4000"/>
          </a:p>
        </p:txBody>
      </p:sp>
      <p:grpSp>
        <p:nvGrpSpPr>
          <p:cNvPr id="5" name="object 5"/>
          <p:cNvGrpSpPr/>
          <p:nvPr/>
        </p:nvGrpSpPr>
        <p:grpSpPr>
          <a:xfrm>
            <a:off x="4814550" y="1659216"/>
            <a:ext cx="2919730" cy="4952153"/>
            <a:chOff x="4814550" y="1244411"/>
            <a:chExt cx="2919730" cy="37141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4550" y="1244411"/>
              <a:ext cx="2800424" cy="371397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534750" y="2733025"/>
              <a:ext cx="2185670" cy="974090"/>
            </a:xfrm>
            <a:custGeom>
              <a:avLst/>
              <a:gdLst/>
              <a:ahLst/>
              <a:cxnLst/>
              <a:rect l="l" t="t" r="r" b="b"/>
              <a:pathLst>
                <a:path w="2185670" h="974089">
                  <a:moveTo>
                    <a:pt x="162243" y="973499"/>
                  </a:moveTo>
                  <a:lnTo>
                    <a:pt x="130667" y="967125"/>
                  </a:lnTo>
                  <a:lnTo>
                    <a:pt x="104881" y="949739"/>
                  </a:lnTo>
                  <a:lnTo>
                    <a:pt x="87496" y="923954"/>
                  </a:lnTo>
                  <a:lnTo>
                    <a:pt x="81121" y="892377"/>
                  </a:lnTo>
                  <a:lnTo>
                    <a:pt x="81121" y="567871"/>
                  </a:lnTo>
                  <a:lnTo>
                    <a:pt x="74747" y="536295"/>
                  </a:lnTo>
                  <a:lnTo>
                    <a:pt x="57361" y="510510"/>
                  </a:lnTo>
                  <a:lnTo>
                    <a:pt x="31576" y="493124"/>
                  </a:lnTo>
                  <a:lnTo>
                    <a:pt x="0" y="486749"/>
                  </a:lnTo>
                  <a:lnTo>
                    <a:pt x="31576" y="480375"/>
                  </a:lnTo>
                  <a:lnTo>
                    <a:pt x="57361" y="462989"/>
                  </a:lnTo>
                  <a:lnTo>
                    <a:pt x="74747" y="437204"/>
                  </a:lnTo>
                  <a:lnTo>
                    <a:pt x="81121" y="405628"/>
                  </a:lnTo>
                  <a:lnTo>
                    <a:pt x="81121" y="81121"/>
                  </a:lnTo>
                  <a:lnTo>
                    <a:pt x="87496" y="49545"/>
                  </a:lnTo>
                  <a:lnTo>
                    <a:pt x="104881" y="23760"/>
                  </a:lnTo>
                  <a:lnTo>
                    <a:pt x="130667" y="6374"/>
                  </a:lnTo>
                  <a:lnTo>
                    <a:pt x="162243" y="0"/>
                  </a:lnTo>
                </a:path>
                <a:path w="2185670" h="974089">
                  <a:moveTo>
                    <a:pt x="2022956" y="0"/>
                  </a:moveTo>
                  <a:lnTo>
                    <a:pt x="2067962" y="13629"/>
                  </a:lnTo>
                  <a:lnTo>
                    <a:pt x="2097902" y="50077"/>
                  </a:lnTo>
                  <a:lnTo>
                    <a:pt x="2104077" y="81121"/>
                  </a:lnTo>
                  <a:lnTo>
                    <a:pt x="2104077" y="405628"/>
                  </a:lnTo>
                  <a:lnTo>
                    <a:pt x="2110452" y="437204"/>
                  </a:lnTo>
                  <a:lnTo>
                    <a:pt x="2127838" y="462989"/>
                  </a:lnTo>
                  <a:lnTo>
                    <a:pt x="2153623" y="480375"/>
                  </a:lnTo>
                  <a:lnTo>
                    <a:pt x="2185199" y="486749"/>
                  </a:lnTo>
                  <a:lnTo>
                    <a:pt x="2153623" y="493124"/>
                  </a:lnTo>
                  <a:lnTo>
                    <a:pt x="2127838" y="510510"/>
                  </a:lnTo>
                  <a:lnTo>
                    <a:pt x="2110452" y="536295"/>
                  </a:lnTo>
                  <a:lnTo>
                    <a:pt x="2104077" y="567871"/>
                  </a:lnTo>
                  <a:lnTo>
                    <a:pt x="2104077" y="892377"/>
                  </a:lnTo>
                  <a:lnTo>
                    <a:pt x="2097703" y="923954"/>
                  </a:lnTo>
                  <a:lnTo>
                    <a:pt x="2080317" y="949739"/>
                  </a:lnTo>
                  <a:lnTo>
                    <a:pt x="2054532" y="967125"/>
                  </a:lnTo>
                  <a:lnTo>
                    <a:pt x="2022956" y="973499"/>
                  </a:lnTo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34750" y="3706525"/>
              <a:ext cx="2185670" cy="1088390"/>
            </a:xfrm>
            <a:custGeom>
              <a:avLst/>
              <a:gdLst/>
              <a:ahLst/>
              <a:cxnLst/>
              <a:rect l="l" t="t" r="r" b="b"/>
              <a:pathLst>
                <a:path w="2185670" h="1088389">
                  <a:moveTo>
                    <a:pt x="181292" y="1087799"/>
                  </a:moveTo>
                  <a:lnTo>
                    <a:pt x="146008" y="1080676"/>
                  </a:lnTo>
                  <a:lnTo>
                    <a:pt x="117196" y="1061250"/>
                  </a:lnTo>
                  <a:lnTo>
                    <a:pt x="97769" y="1032437"/>
                  </a:lnTo>
                  <a:lnTo>
                    <a:pt x="90646" y="997153"/>
                  </a:lnTo>
                  <a:lnTo>
                    <a:pt x="90646" y="634546"/>
                  </a:lnTo>
                  <a:lnTo>
                    <a:pt x="83523" y="599262"/>
                  </a:lnTo>
                  <a:lnTo>
                    <a:pt x="64096" y="570449"/>
                  </a:lnTo>
                  <a:lnTo>
                    <a:pt x="35283" y="551023"/>
                  </a:lnTo>
                  <a:lnTo>
                    <a:pt x="0" y="543899"/>
                  </a:lnTo>
                  <a:lnTo>
                    <a:pt x="35283" y="536776"/>
                  </a:lnTo>
                  <a:lnTo>
                    <a:pt x="64096" y="517350"/>
                  </a:lnTo>
                  <a:lnTo>
                    <a:pt x="83523" y="488537"/>
                  </a:lnTo>
                  <a:lnTo>
                    <a:pt x="90646" y="453253"/>
                  </a:lnTo>
                  <a:lnTo>
                    <a:pt x="90646" y="90646"/>
                  </a:lnTo>
                  <a:lnTo>
                    <a:pt x="97769" y="55362"/>
                  </a:lnTo>
                  <a:lnTo>
                    <a:pt x="117196" y="26549"/>
                  </a:lnTo>
                  <a:lnTo>
                    <a:pt x="146008" y="7123"/>
                  </a:lnTo>
                  <a:lnTo>
                    <a:pt x="181292" y="0"/>
                  </a:lnTo>
                </a:path>
                <a:path w="2185670" h="1088389">
                  <a:moveTo>
                    <a:pt x="2003906" y="0"/>
                  </a:moveTo>
                  <a:lnTo>
                    <a:pt x="2054198" y="15229"/>
                  </a:lnTo>
                  <a:lnTo>
                    <a:pt x="2087653" y="55957"/>
                  </a:lnTo>
                  <a:lnTo>
                    <a:pt x="2094553" y="90646"/>
                  </a:lnTo>
                  <a:lnTo>
                    <a:pt x="2094553" y="453253"/>
                  </a:lnTo>
                  <a:lnTo>
                    <a:pt x="2101677" y="488537"/>
                  </a:lnTo>
                  <a:lnTo>
                    <a:pt x="2121103" y="517350"/>
                  </a:lnTo>
                  <a:lnTo>
                    <a:pt x="2149916" y="536776"/>
                  </a:lnTo>
                  <a:lnTo>
                    <a:pt x="2185199" y="543899"/>
                  </a:lnTo>
                  <a:lnTo>
                    <a:pt x="2149916" y="551023"/>
                  </a:lnTo>
                  <a:lnTo>
                    <a:pt x="2121103" y="570449"/>
                  </a:lnTo>
                  <a:lnTo>
                    <a:pt x="2101677" y="599262"/>
                  </a:lnTo>
                  <a:lnTo>
                    <a:pt x="2094553" y="634546"/>
                  </a:lnTo>
                  <a:lnTo>
                    <a:pt x="2094553" y="997153"/>
                  </a:lnTo>
                  <a:lnTo>
                    <a:pt x="2087430" y="1032437"/>
                  </a:lnTo>
                  <a:lnTo>
                    <a:pt x="2068003" y="1061250"/>
                  </a:lnTo>
                  <a:lnTo>
                    <a:pt x="2039190" y="1080676"/>
                  </a:lnTo>
                  <a:lnTo>
                    <a:pt x="2003906" y="1087799"/>
                  </a:lnTo>
                </a:path>
              </a:pathLst>
            </a:custGeom>
            <a:ln w="28574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907576" y="4118517"/>
            <a:ext cx="71818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45" dirty="0">
                <a:latin typeface="Tahoma"/>
                <a:cs typeface="Tahoma"/>
              </a:rPr>
              <a:t>Discrete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07576" y="5494284"/>
            <a:ext cx="9874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45" dirty="0">
                <a:latin typeface="Tahoma"/>
                <a:cs typeface="Tahoma"/>
              </a:rPr>
              <a:t>Continuous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8990" y="90280"/>
            <a:ext cx="1924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033A0"/>
                </a:solidFill>
                <a:latin typeface="PMingLiU-ExtB"/>
                <a:cs typeface="PMingLiU-ExtB"/>
              </a:rPr>
              <a:t>17</a:t>
            </a:r>
            <a:endParaRPr sz="14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0242" y="1511521"/>
            <a:ext cx="7682230" cy="3228961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94335" indent="-382270">
              <a:lnSpc>
                <a:spcPct val="100000"/>
              </a:lnSpc>
              <a:spcBef>
                <a:spcPts val="475"/>
              </a:spcBef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Fields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not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in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original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2C2A29"/>
                </a:solidFill>
                <a:latin typeface="Verdana"/>
                <a:cs typeface="Verdana"/>
              </a:rPr>
              <a:t>data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14" dirty="0">
                <a:solidFill>
                  <a:srgbClr val="2C2A29"/>
                </a:solidFill>
                <a:latin typeface="Verdana"/>
                <a:cs typeface="Verdana"/>
              </a:rPr>
              <a:t>source,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but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provided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by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2C2A29"/>
                </a:solidFill>
                <a:latin typeface="Verdana"/>
                <a:cs typeface="Verdana"/>
              </a:rPr>
              <a:t>Tableau</a:t>
            </a:r>
            <a:endParaRPr sz="2000">
              <a:latin typeface="Verdana"/>
              <a:cs typeface="Verdana"/>
            </a:endParaRPr>
          </a:p>
          <a:p>
            <a:pPr marL="394335" indent="-382270">
              <a:lnSpc>
                <a:spcPct val="100000"/>
              </a:lnSpc>
              <a:spcBef>
                <a:spcPts val="375"/>
              </a:spcBef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spc="-5" dirty="0">
                <a:solidFill>
                  <a:srgbClr val="2C2A29"/>
                </a:solidFill>
                <a:latin typeface="Verdana"/>
                <a:cs typeface="Verdana"/>
              </a:rPr>
              <a:t>Allow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2C2A29"/>
                </a:solidFill>
                <a:latin typeface="Verdana"/>
                <a:cs typeface="Verdana"/>
              </a:rPr>
              <a:t>you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to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create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vizs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2C2A29"/>
                </a:solidFill>
                <a:latin typeface="Verdana"/>
                <a:cs typeface="Verdana"/>
              </a:rPr>
              <a:t>with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2C2A29"/>
                </a:solidFill>
                <a:latin typeface="Verdana"/>
                <a:cs typeface="Verdana"/>
              </a:rPr>
              <a:t>multiple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2C2A29"/>
                </a:solidFill>
                <a:latin typeface="Verdana"/>
                <a:cs typeface="Verdana"/>
              </a:rPr>
              <a:t>measures</a:t>
            </a:r>
            <a:endParaRPr sz="2000">
              <a:latin typeface="Verdana"/>
              <a:cs typeface="Verdana"/>
            </a:endParaRPr>
          </a:p>
          <a:p>
            <a:pPr marL="394335" marR="5080" indent="-382270">
              <a:lnSpc>
                <a:spcPct val="115599"/>
              </a:lnSpc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b="1" spc="-65" dirty="0">
                <a:solidFill>
                  <a:srgbClr val="2C2A29"/>
                </a:solidFill>
                <a:latin typeface="Tahoma"/>
                <a:cs typeface="Tahoma"/>
              </a:rPr>
              <a:t>Measure</a:t>
            </a:r>
            <a:r>
              <a:rPr sz="2000" b="1" spc="-40" dirty="0">
                <a:solidFill>
                  <a:srgbClr val="2C2A29"/>
                </a:solidFill>
                <a:latin typeface="Tahoma"/>
                <a:cs typeface="Tahoma"/>
              </a:rPr>
              <a:t> </a:t>
            </a:r>
            <a:r>
              <a:rPr sz="2000" b="1" spc="-75" dirty="0">
                <a:solidFill>
                  <a:srgbClr val="2C2A29"/>
                </a:solidFill>
                <a:latin typeface="Tahoma"/>
                <a:cs typeface="Tahoma"/>
              </a:rPr>
              <a:t>Names:</a:t>
            </a:r>
            <a:r>
              <a:rPr sz="2000" b="1" spc="-45" dirty="0">
                <a:solidFill>
                  <a:srgbClr val="2C2A29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2C2A29"/>
                </a:solidFill>
                <a:latin typeface="Verdana"/>
                <a:cs typeface="Verdana"/>
              </a:rPr>
              <a:t>a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collection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of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all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names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of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2C2A29"/>
                </a:solidFill>
                <a:latin typeface="Verdana"/>
                <a:cs typeface="Verdana"/>
              </a:rPr>
              <a:t>measures </a:t>
            </a:r>
            <a:r>
              <a:rPr sz="2000" spc="-69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in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one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field</a:t>
            </a:r>
            <a:endParaRPr sz="2000">
              <a:latin typeface="Verdana"/>
              <a:cs typeface="Verdana"/>
            </a:endParaRPr>
          </a:p>
          <a:p>
            <a:pPr marL="851535" lvl="1" indent="-382270">
              <a:lnSpc>
                <a:spcPct val="100000"/>
              </a:lnSpc>
              <a:spcBef>
                <a:spcPts val="375"/>
              </a:spcBef>
              <a:buFont typeface="Tahoma"/>
              <a:buChar char="○"/>
              <a:tabLst>
                <a:tab pos="851535" algn="l"/>
                <a:tab pos="852169" algn="l"/>
              </a:tabLst>
            </a:pPr>
            <a:r>
              <a:rPr sz="2000" spc="-60" dirty="0">
                <a:solidFill>
                  <a:srgbClr val="2C2A29"/>
                </a:solidFill>
                <a:latin typeface="Verdana"/>
                <a:cs typeface="Verdana"/>
              </a:rPr>
              <a:t>Housed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under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Dimensions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since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values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are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strings</a:t>
            </a:r>
            <a:endParaRPr sz="2000">
              <a:latin typeface="Verdana"/>
              <a:cs typeface="Verdana"/>
            </a:endParaRPr>
          </a:p>
          <a:p>
            <a:pPr marL="394335" marR="57150" indent="-382270">
              <a:lnSpc>
                <a:spcPct val="115599"/>
              </a:lnSpc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b="1" spc="-65" dirty="0">
                <a:solidFill>
                  <a:srgbClr val="2C2A29"/>
                </a:solidFill>
                <a:latin typeface="Tahoma"/>
                <a:cs typeface="Tahoma"/>
              </a:rPr>
              <a:t>Measure</a:t>
            </a:r>
            <a:r>
              <a:rPr sz="2000" b="1" spc="-40" dirty="0">
                <a:solidFill>
                  <a:srgbClr val="2C2A29"/>
                </a:solidFill>
                <a:latin typeface="Tahoma"/>
                <a:cs typeface="Tahoma"/>
              </a:rPr>
              <a:t> </a:t>
            </a:r>
            <a:r>
              <a:rPr sz="2000" b="1" spc="-55" dirty="0">
                <a:solidFill>
                  <a:srgbClr val="2C2A29"/>
                </a:solidFill>
                <a:latin typeface="Tahoma"/>
                <a:cs typeface="Tahoma"/>
              </a:rPr>
              <a:t>Values:</a:t>
            </a:r>
            <a:r>
              <a:rPr sz="2000" b="1" spc="-75" dirty="0">
                <a:solidFill>
                  <a:srgbClr val="2C2A29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2C2A29"/>
                </a:solidFill>
                <a:latin typeface="Verdana"/>
                <a:cs typeface="Verdana"/>
              </a:rPr>
              <a:t>a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collection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of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all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values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of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2C2A29"/>
                </a:solidFill>
                <a:latin typeface="Verdana"/>
                <a:cs typeface="Verdana"/>
              </a:rPr>
              <a:t>measures </a:t>
            </a:r>
            <a:r>
              <a:rPr sz="2000" spc="-69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in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one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field</a:t>
            </a:r>
            <a:endParaRPr sz="2000">
              <a:latin typeface="Verdana"/>
              <a:cs typeface="Verdana"/>
            </a:endParaRPr>
          </a:p>
          <a:p>
            <a:pPr marL="851535" marR="384810" lvl="1" indent="-382270">
              <a:lnSpc>
                <a:spcPct val="115599"/>
              </a:lnSpc>
              <a:buClr>
                <a:srgbClr val="0033A0"/>
              </a:buClr>
              <a:buFont typeface="Tahoma"/>
              <a:buChar char="○"/>
              <a:tabLst>
                <a:tab pos="851535" algn="l"/>
                <a:tab pos="852169" algn="l"/>
              </a:tabLst>
            </a:pPr>
            <a:r>
              <a:rPr sz="2000" spc="-60" dirty="0">
                <a:solidFill>
                  <a:srgbClr val="2C2A29"/>
                </a:solidFill>
                <a:latin typeface="Verdana"/>
                <a:cs typeface="Verdana"/>
              </a:rPr>
              <a:t>Housed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under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Measures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since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values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are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2C2A29"/>
                </a:solidFill>
                <a:latin typeface="Verdana"/>
                <a:cs typeface="Verdana"/>
              </a:rPr>
              <a:t>measures </a:t>
            </a:r>
            <a:r>
              <a:rPr sz="2000" spc="-69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themselves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5786" y="285728"/>
            <a:ext cx="732535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5" dirty="0">
                <a:solidFill>
                  <a:srgbClr val="2C2A29"/>
                </a:solidFill>
              </a:rPr>
              <a:t>Understanding </a:t>
            </a:r>
            <a:r>
              <a:rPr sz="2800" b="1" spc="-75" dirty="0">
                <a:solidFill>
                  <a:srgbClr val="2C2A29"/>
                </a:solidFill>
              </a:rPr>
              <a:t>Measure</a:t>
            </a:r>
            <a:r>
              <a:rPr sz="2800" b="1" spc="-55" dirty="0">
                <a:solidFill>
                  <a:srgbClr val="2C2A29"/>
                </a:solidFill>
              </a:rPr>
              <a:t> Names </a:t>
            </a:r>
            <a:r>
              <a:rPr sz="2800" b="1" spc="-120" dirty="0">
                <a:solidFill>
                  <a:srgbClr val="2C2A29"/>
                </a:solidFill>
              </a:rPr>
              <a:t>v.</a:t>
            </a:r>
            <a:r>
              <a:rPr sz="2800" b="1" spc="-55" dirty="0">
                <a:solidFill>
                  <a:srgbClr val="2C2A29"/>
                </a:solidFill>
              </a:rPr>
              <a:t> </a:t>
            </a:r>
            <a:r>
              <a:rPr sz="2800" b="1" spc="-75" dirty="0">
                <a:solidFill>
                  <a:srgbClr val="2C2A29"/>
                </a:solidFill>
              </a:rPr>
              <a:t>Measure</a:t>
            </a:r>
            <a:r>
              <a:rPr sz="2800" b="1" spc="-55" dirty="0">
                <a:solidFill>
                  <a:srgbClr val="2C2A29"/>
                </a:solidFill>
              </a:rPr>
              <a:t> </a:t>
            </a:r>
            <a:r>
              <a:rPr sz="2800" b="1" spc="-35" dirty="0">
                <a:solidFill>
                  <a:srgbClr val="2C2A29"/>
                </a:solidFill>
              </a:rPr>
              <a:t>Values</a:t>
            </a:r>
            <a:endParaRPr sz="28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8990" y="90280"/>
            <a:ext cx="1924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033A0"/>
                </a:solidFill>
                <a:latin typeface="PMingLiU-ExtB"/>
                <a:cs typeface="PMingLiU-ExtB"/>
              </a:rPr>
              <a:t>18</a:t>
            </a:r>
            <a:endParaRPr sz="14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0243" y="1511520"/>
            <a:ext cx="4253865" cy="28689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marR="5080" indent="-382270">
              <a:lnSpc>
                <a:spcPct val="115599"/>
              </a:lnSpc>
              <a:spcBef>
                <a:spcPts val="100"/>
              </a:spcBef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spc="-15" dirty="0">
                <a:solidFill>
                  <a:srgbClr val="2C2A29"/>
                </a:solidFill>
                <a:latin typeface="Verdana"/>
                <a:cs typeface="Verdana"/>
              </a:rPr>
              <a:t>When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adding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Measure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2C2A29"/>
                </a:solidFill>
                <a:latin typeface="Verdana"/>
                <a:cs typeface="Verdana"/>
              </a:rPr>
              <a:t>Values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to  </a:t>
            </a:r>
            <a:r>
              <a:rPr sz="2000" spc="-5" dirty="0">
                <a:solidFill>
                  <a:srgbClr val="2C2A29"/>
                </a:solidFill>
                <a:latin typeface="Verdana"/>
                <a:cs typeface="Verdana"/>
              </a:rPr>
              <a:t>a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20" dirty="0">
                <a:solidFill>
                  <a:srgbClr val="2C2A29"/>
                </a:solidFill>
                <a:latin typeface="Verdana"/>
                <a:cs typeface="Verdana"/>
              </a:rPr>
              <a:t>viz,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C2A29"/>
                </a:solidFill>
                <a:latin typeface="Verdana"/>
                <a:cs typeface="Verdana"/>
              </a:rPr>
              <a:t>a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separate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shelf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appears  </a:t>
            </a:r>
            <a:r>
              <a:rPr sz="2000" spc="-40" dirty="0">
                <a:solidFill>
                  <a:srgbClr val="2C2A29"/>
                </a:solidFill>
                <a:latin typeface="Verdana"/>
                <a:cs typeface="Verdana"/>
              </a:rPr>
              <a:t>below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b="1" spc="-55" dirty="0">
                <a:solidFill>
                  <a:srgbClr val="2C2A29"/>
                </a:solidFill>
                <a:latin typeface="Tahoma"/>
                <a:cs typeface="Tahoma"/>
              </a:rPr>
              <a:t>Marks</a:t>
            </a:r>
            <a:r>
              <a:rPr sz="2000" b="1" spc="-70" dirty="0">
                <a:solidFill>
                  <a:srgbClr val="2C2A29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shelf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2C2A29"/>
                </a:solidFill>
                <a:latin typeface="Verdana"/>
                <a:cs typeface="Verdana"/>
              </a:rPr>
              <a:t>with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all 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Measures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in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their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default  aggregation</a:t>
            </a:r>
            <a:endParaRPr sz="2000">
              <a:latin typeface="Verdana"/>
              <a:cs typeface="Verdana"/>
            </a:endParaRPr>
          </a:p>
          <a:p>
            <a:pPr marL="394335" marR="518159" indent="-382270" algn="just">
              <a:lnSpc>
                <a:spcPct val="115599"/>
              </a:lnSpc>
              <a:buClr>
                <a:srgbClr val="0033A0"/>
              </a:buClr>
              <a:buFont typeface="Tahoma"/>
              <a:buChar char="●"/>
              <a:tabLst>
                <a:tab pos="394970" algn="l"/>
              </a:tabLst>
            </a:pP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Remove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or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2C2A29"/>
                </a:solidFill>
                <a:latin typeface="Verdana"/>
                <a:cs typeface="Verdana"/>
              </a:rPr>
              <a:t>add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Measures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C2A29"/>
                </a:solidFill>
                <a:latin typeface="Verdana"/>
                <a:cs typeface="Verdana"/>
              </a:rPr>
              <a:t>as 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necessary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by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2C2A29"/>
                </a:solidFill>
                <a:latin typeface="Verdana"/>
                <a:cs typeface="Verdana"/>
              </a:rPr>
              <a:t>dragging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2C2A29"/>
                </a:solidFill>
                <a:latin typeface="Verdana"/>
                <a:cs typeface="Verdana"/>
              </a:rPr>
              <a:t>them  </a:t>
            </a:r>
            <a:r>
              <a:rPr sz="2000" spc="-110" dirty="0">
                <a:solidFill>
                  <a:srgbClr val="2C2A29"/>
                </a:solidFill>
                <a:latin typeface="Verdana"/>
                <a:cs typeface="Verdana"/>
              </a:rPr>
              <a:t>off/on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shelf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1472" y="285728"/>
            <a:ext cx="361124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65" dirty="0">
                <a:solidFill>
                  <a:srgbClr val="2C2A29"/>
                </a:solidFill>
              </a:rPr>
              <a:t>Utilizing</a:t>
            </a:r>
            <a:r>
              <a:rPr sz="2400" b="1" spc="-80" dirty="0">
                <a:solidFill>
                  <a:srgbClr val="2C2A29"/>
                </a:solidFill>
              </a:rPr>
              <a:t> </a:t>
            </a:r>
            <a:r>
              <a:rPr sz="2400" b="1" spc="-75" dirty="0">
                <a:solidFill>
                  <a:srgbClr val="2C2A29"/>
                </a:solidFill>
              </a:rPr>
              <a:t>Measure </a:t>
            </a:r>
            <a:r>
              <a:rPr sz="2400" b="1" spc="-35" dirty="0">
                <a:solidFill>
                  <a:srgbClr val="2C2A29"/>
                </a:solidFill>
              </a:rPr>
              <a:t>Values</a:t>
            </a:r>
            <a:endParaRPr sz="2400" b="1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6200" y="753199"/>
            <a:ext cx="1293798" cy="593939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624325" y="753201"/>
            <a:ext cx="2035810" cy="3868420"/>
            <a:chOff x="6624325" y="564900"/>
            <a:chExt cx="2035810" cy="290131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4325" y="564900"/>
              <a:ext cx="1716071" cy="23169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965905" y="2979692"/>
              <a:ext cx="680085" cy="472440"/>
            </a:xfrm>
            <a:custGeom>
              <a:avLst/>
              <a:gdLst/>
              <a:ahLst/>
              <a:cxnLst/>
              <a:rect l="l" t="t" r="r" b="b"/>
              <a:pathLst>
                <a:path w="680084" h="472439">
                  <a:moveTo>
                    <a:pt x="679692" y="472181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5118" y="2891420"/>
              <a:ext cx="162002" cy="1413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1426" y="582601"/>
            <a:ext cx="2850499" cy="610926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878990" y="90280"/>
            <a:ext cx="1924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033A0"/>
                </a:solidFill>
                <a:latin typeface="PMingLiU-ExtB"/>
                <a:cs typeface="PMingLiU-ExtB"/>
              </a:rPr>
              <a:t>19</a:t>
            </a:r>
            <a:endParaRPr sz="1400">
              <a:latin typeface="PMingLiU-ExtB"/>
              <a:cs typeface="PMingLiU-ExtB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0242" y="1511521"/>
            <a:ext cx="4672330" cy="2514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marR="5080" indent="-382270">
              <a:lnSpc>
                <a:spcPct val="115599"/>
              </a:lnSpc>
              <a:spcBef>
                <a:spcPts val="100"/>
              </a:spcBef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To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2C2A29"/>
                </a:solidFill>
                <a:latin typeface="Verdana"/>
                <a:cs typeface="Verdana"/>
              </a:rPr>
              <a:t>display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C2A29"/>
                </a:solidFill>
                <a:latin typeface="Verdana"/>
                <a:cs typeface="Verdana"/>
              </a:rPr>
              <a:t>what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Measure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Values 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indicate,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Measure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Names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needs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to 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be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on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viz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2C2A29"/>
                </a:solidFill>
                <a:latin typeface="Verdana"/>
                <a:cs typeface="Verdana"/>
              </a:rPr>
              <a:t>as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2C2A29"/>
                </a:solidFill>
                <a:latin typeface="Verdana"/>
                <a:cs typeface="Verdana"/>
              </a:rPr>
              <a:t>well</a:t>
            </a:r>
            <a:endParaRPr sz="2000">
              <a:latin typeface="Verdana"/>
              <a:cs typeface="Verdana"/>
            </a:endParaRPr>
          </a:p>
          <a:p>
            <a:pPr marL="394335" indent="-382270">
              <a:lnSpc>
                <a:spcPct val="100000"/>
              </a:lnSpc>
              <a:spcBef>
                <a:spcPts val="375"/>
              </a:spcBef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Otherwise,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you’ll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get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60" dirty="0">
                <a:solidFill>
                  <a:srgbClr val="2C2A29"/>
                </a:solidFill>
                <a:latin typeface="Verdana"/>
                <a:cs typeface="Verdana"/>
              </a:rPr>
              <a:t>this...</a:t>
            </a:r>
            <a:endParaRPr sz="2000">
              <a:latin typeface="Verdana"/>
              <a:cs typeface="Verdana"/>
            </a:endParaRPr>
          </a:p>
          <a:p>
            <a:pPr marL="851535" marR="29845" lvl="1" indent="-382270">
              <a:lnSpc>
                <a:spcPct val="115599"/>
              </a:lnSpc>
              <a:buClr>
                <a:srgbClr val="0033A0"/>
              </a:buClr>
              <a:buFont typeface="Tahoma"/>
              <a:buChar char="○"/>
              <a:tabLst>
                <a:tab pos="851535" algn="l"/>
                <a:tab pos="852169" algn="l"/>
              </a:tabLst>
            </a:pPr>
            <a:r>
              <a:rPr sz="2000" spc="-150" dirty="0">
                <a:solidFill>
                  <a:srgbClr val="2C2A29"/>
                </a:solidFill>
                <a:latin typeface="Verdana"/>
                <a:cs typeface="Verdana"/>
              </a:rPr>
              <a:t>Remember: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Measure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Names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is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C2A29"/>
                </a:solidFill>
                <a:latin typeface="Verdana"/>
                <a:cs typeface="Verdana"/>
              </a:rPr>
              <a:t>a 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dimension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2C2A29"/>
                </a:solidFill>
                <a:latin typeface="Verdana"/>
                <a:cs typeface="Verdana"/>
              </a:rPr>
              <a:t>and,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25" dirty="0">
                <a:solidFill>
                  <a:srgbClr val="2C2A29"/>
                </a:solidFill>
                <a:latin typeface="Verdana"/>
                <a:cs typeface="Verdana"/>
              </a:rPr>
              <a:t>thus,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creates 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buckets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to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divide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2C2A29"/>
                </a:solidFill>
                <a:latin typeface="Verdana"/>
                <a:cs typeface="Verdana"/>
              </a:rPr>
              <a:t>data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9125" y="834311"/>
            <a:ext cx="363410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65" dirty="0">
                <a:solidFill>
                  <a:srgbClr val="2C2A29"/>
                </a:solidFill>
              </a:rPr>
              <a:t>Utilizing</a:t>
            </a:r>
            <a:r>
              <a:rPr sz="2400" b="1" spc="-85" dirty="0">
                <a:solidFill>
                  <a:srgbClr val="2C2A29"/>
                </a:solidFill>
              </a:rPr>
              <a:t> </a:t>
            </a:r>
            <a:r>
              <a:rPr sz="2400" b="1" spc="-75" dirty="0">
                <a:solidFill>
                  <a:srgbClr val="2C2A29"/>
                </a:solidFill>
              </a:rPr>
              <a:t>Measure</a:t>
            </a:r>
            <a:r>
              <a:rPr sz="2400" b="1" spc="-80" dirty="0">
                <a:solidFill>
                  <a:srgbClr val="2C2A29"/>
                </a:solidFill>
              </a:rPr>
              <a:t> </a:t>
            </a:r>
            <a:r>
              <a:rPr sz="2400" b="1" spc="-55" dirty="0">
                <a:solidFill>
                  <a:srgbClr val="2C2A29"/>
                </a:solidFill>
              </a:rPr>
              <a:t>Names</a:t>
            </a:r>
            <a:endParaRPr sz="2400" b="1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3162" y="5629900"/>
            <a:ext cx="619124" cy="41909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377887" y="4981316"/>
            <a:ext cx="1059180" cy="627379"/>
            <a:chOff x="2377887" y="3735987"/>
            <a:chExt cx="1059180" cy="470534"/>
          </a:xfrm>
        </p:grpSpPr>
        <p:sp>
          <p:nvSpPr>
            <p:cNvPr id="8" name="object 8"/>
            <p:cNvSpPr/>
            <p:nvPr/>
          </p:nvSpPr>
          <p:spPr>
            <a:xfrm>
              <a:off x="2392174" y="3750274"/>
              <a:ext cx="911225" cy="390525"/>
            </a:xfrm>
            <a:custGeom>
              <a:avLst/>
              <a:gdLst/>
              <a:ahLst/>
              <a:cxnLst/>
              <a:rect l="l" t="t" r="r" b="b"/>
              <a:pathLst>
                <a:path w="911225" h="390525">
                  <a:moveTo>
                    <a:pt x="0" y="0"/>
                  </a:moveTo>
                  <a:lnTo>
                    <a:pt x="911003" y="390283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70304" y="4082886"/>
              <a:ext cx="166359" cy="1230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8990" y="90280"/>
            <a:ext cx="1924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033A0"/>
                </a:solidFill>
                <a:latin typeface="PMingLiU-ExtB"/>
                <a:cs typeface="PMingLiU-ExtB"/>
              </a:rPr>
              <a:t>20</a:t>
            </a:r>
            <a:endParaRPr sz="14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0243" y="1511521"/>
            <a:ext cx="4225925" cy="32260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marR="74295" indent="-382270">
              <a:lnSpc>
                <a:spcPct val="115599"/>
              </a:lnSpc>
              <a:spcBef>
                <a:spcPts val="100"/>
              </a:spcBef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Once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Measure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2C2A29"/>
                </a:solidFill>
                <a:latin typeface="Verdana"/>
                <a:cs typeface="Verdana"/>
              </a:rPr>
              <a:t>Values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is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on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the  </a:t>
            </a:r>
            <a:r>
              <a:rPr sz="2000" spc="-120" dirty="0">
                <a:solidFill>
                  <a:srgbClr val="2C2A29"/>
                </a:solidFill>
                <a:latin typeface="Verdana"/>
                <a:cs typeface="Verdana"/>
              </a:rPr>
              <a:t>viz,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Measure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Names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2C2A29"/>
                </a:solidFill>
                <a:latin typeface="Verdana"/>
                <a:cs typeface="Verdana"/>
              </a:rPr>
              <a:t>appears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on 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b="1" spc="-75" dirty="0">
                <a:solidFill>
                  <a:srgbClr val="2C2A29"/>
                </a:solidFill>
                <a:latin typeface="Tahoma"/>
                <a:cs typeface="Tahoma"/>
              </a:rPr>
              <a:t>Filter</a:t>
            </a:r>
            <a:r>
              <a:rPr sz="2000" b="1" spc="-45" dirty="0">
                <a:solidFill>
                  <a:srgbClr val="2C2A29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shelf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automatically</a:t>
            </a:r>
            <a:endParaRPr sz="2000">
              <a:latin typeface="Verdana"/>
              <a:cs typeface="Verdana"/>
            </a:endParaRPr>
          </a:p>
          <a:p>
            <a:pPr marL="394335" marR="5080" indent="-382270">
              <a:lnSpc>
                <a:spcPct val="115599"/>
              </a:lnSpc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names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chosen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to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2C2A29"/>
                </a:solidFill>
                <a:latin typeface="Verdana"/>
                <a:cs typeface="Verdana"/>
              </a:rPr>
              <a:t>display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on 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Measure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Names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2C2A29"/>
                </a:solidFill>
                <a:latin typeface="Verdana"/>
                <a:cs typeface="Verdana"/>
              </a:rPr>
              <a:t>will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stay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in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sync  </a:t>
            </a:r>
            <a:r>
              <a:rPr sz="2000" spc="-40" dirty="0">
                <a:solidFill>
                  <a:srgbClr val="2C2A29"/>
                </a:solidFill>
                <a:latin typeface="Verdana"/>
                <a:cs typeface="Verdana"/>
              </a:rPr>
              <a:t>with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values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in</a:t>
            </a:r>
            <a:r>
              <a:rPr sz="2000" spc="-19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b="1" spc="-55" dirty="0">
                <a:solidFill>
                  <a:srgbClr val="2C2A29"/>
                </a:solidFill>
                <a:latin typeface="Tahoma"/>
                <a:cs typeface="Tahoma"/>
              </a:rPr>
              <a:t>Measure  </a:t>
            </a:r>
            <a:r>
              <a:rPr sz="2000" b="1" spc="-30" dirty="0">
                <a:solidFill>
                  <a:srgbClr val="2C2A29"/>
                </a:solidFill>
                <a:latin typeface="Tahoma"/>
                <a:cs typeface="Tahoma"/>
              </a:rPr>
              <a:t>Values</a:t>
            </a:r>
            <a:endParaRPr sz="2000">
              <a:latin typeface="Tahoma"/>
              <a:cs typeface="Tahoma"/>
            </a:endParaRPr>
          </a:p>
          <a:p>
            <a:pPr marL="851535" marR="199390" lvl="1" indent="-382270">
              <a:lnSpc>
                <a:spcPct val="115599"/>
              </a:lnSpc>
              <a:buClr>
                <a:srgbClr val="0033A0"/>
              </a:buClr>
              <a:buFont typeface="Tahoma"/>
              <a:buChar char="○"/>
              <a:tabLst>
                <a:tab pos="851535" algn="l"/>
                <a:tab pos="852169" algn="l"/>
              </a:tabLst>
            </a:pPr>
            <a:r>
              <a:rPr sz="2000" dirty="0">
                <a:solidFill>
                  <a:srgbClr val="2C2A29"/>
                </a:solidFill>
                <a:latin typeface="Verdana"/>
                <a:cs typeface="Verdana"/>
              </a:rPr>
              <a:t>An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action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to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14" dirty="0">
                <a:solidFill>
                  <a:srgbClr val="2C2A29"/>
                </a:solidFill>
                <a:latin typeface="Verdana"/>
                <a:cs typeface="Verdana"/>
              </a:rPr>
              <a:t>add/remove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in 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one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2C2A29"/>
                </a:solidFill>
                <a:latin typeface="Verdana"/>
                <a:cs typeface="Verdana"/>
              </a:rPr>
              <a:t>will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reflect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in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other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9126" y="834311"/>
            <a:ext cx="22739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5" dirty="0">
                <a:solidFill>
                  <a:srgbClr val="2C2A29"/>
                </a:solidFill>
              </a:rPr>
              <a:t>Staying</a:t>
            </a:r>
            <a:r>
              <a:rPr sz="2400" b="1" spc="-80" dirty="0">
                <a:solidFill>
                  <a:srgbClr val="2C2A29"/>
                </a:solidFill>
              </a:rPr>
              <a:t> </a:t>
            </a:r>
            <a:r>
              <a:rPr sz="2400" b="1" spc="-95" dirty="0">
                <a:solidFill>
                  <a:srgbClr val="2C2A29"/>
                </a:solidFill>
              </a:rPr>
              <a:t>in</a:t>
            </a:r>
            <a:r>
              <a:rPr sz="2400" b="1" spc="-75" dirty="0">
                <a:solidFill>
                  <a:srgbClr val="2C2A29"/>
                </a:solidFill>
              </a:rPr>
              <a:t> </a:t>
            </a:r>
            <a:r>
              <a:rPr sz="2400" b="1" spc="-55" dirty="0">
                <a:solidFill>
                  <a:srgbClr val="2C2A29"/>
                </a:solidFill>
              </a:rPr>
              <a:t>Sync</a:t>
            </a:r>
            <a:endParaRPr sz="2400" b="1"/>
          </a:p>
        </p:txBody>
      </p:sp>
      <p:grpSp>
        <p:nvGrpSpPr>
          <p:cNvPr id="5" name="object 5"/>
          <p:cNvGrpSpPr/>
          <p:nvPr/>
        </p:nvGrpSpPr>
        <p:grpSpPr>
          <a:xfrm>
            <a:off x="4730251" y="753201"/>
            <a:ext cx="4220845" cy="5913967"/>
            <a:chOff x="4730250" y="564900"/>
            <a:chExt cx="4220845" cy="44354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9765" y="564900"/>
              <a:ext cx="4210959" cy="443547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739775" y="2963099"/>
              <a:ext cx="1453515" cy="1560195"/>
            </a:xfrm>
            <a:custGeom>
              <a:avLst/>
              <a:gdLst/>
              <a:ahLst/>
              <a:cxnLst/>
              <a:rect l="l" t="t" r="r" b="b"/>
              <a:pathLst>
                <a:path w="1453514" h="1560195">
                  <a:moveTo>
                    <a:pt x="1253049" y="663124"/>
                  </a:moveTo>
                  <a:lnTo>
                    <a:pt x="1453449" y="663124"/>
                  </a:lnTo>
                  <a:lnTo>
                    <a:pt x="1453449" y="939724"/>
                  </a:lnTo>
                  <a:lnTo>
                    <a:pt x="1253049" y="939724"/>
                  </a:lnTo>
                  <a:lnTo>
                    <a:pt x="1253049" y="663124"/>
                  </a:lnTo>
                  <a:close/>
                </a:path>
                <a:path w="1453514" h="1560195">
                  <a:moveTo>
                    <a:pt x="1253049" y="1407324"/>
                  </a:moveTo>
                  <a:lnTo>
                    <a:pt x="1453449" y="1407324"/>
                  </a:lnTo>
                  <a:lnTo>
                    <a:pt x="1453449" y="1559724"/>
                  </a:lnTo>
                  <a:lnTo>
                    <a:pt x="1253049" y="1559724"/>
                  </a:lnTo>
                  <a:lnTo>
                    <a:pt x="1253049" y="1407324"/>
                  </a:lnTo>
                  <a:close/>
                </a:path>
                <a:path w="1453514" h="1560195">
                  <a:moveTo>
                    <a:pt x="0" y="0"/>
                  </a:moveTo>
                  <a:lnTo>
                    <a:pt x="1081199" y="0"/>
                  </a:lnTo>
                  <a:lnTo>
                    <a:pt x="1081199" y="939599"/>
                  </a:lnTo>
                  <a:lnTo>
                    <a:pt x="0" y="939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8990" y="90280"/>
            <a:ext cx="1924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033A0"/>
                </a:solidFill>
                <a:latin typeface="PMingLiU-ExtB"/>
                <a:cs typeface="PMingLiU-ExtB"/>
              </a:rPr>
              <a:t>21</a:t>
            </a:r>
            <a:endParaRPr sz="14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0243" y="1511520"/>
            <a:ext cx="8375015" cy="21590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marR="563245" indent="-382270">
              <a:lnSpc>
                <a:spcPct val="115599"/>
              </a:lnSpc>
              <a:spcBef>
                <a:spcPts val="100"/>
              </a:spcBef>
              <a:buClr>
                <a:srgbClr val="0033A0"/>
              </a:buClr>
              <a:buFont typeface="Tahoma"/>
              <a:buChar char="●"/>
              <a:tabLst>
                <a:tab pos="394335" algn="l"/>
                <a:tab pos="394970" algn="l"/>
              </a:tabLst>
            </a:pP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If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using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C2A29"/>
                </a:solidFill>
                <a:latin typeface="Verdana"/>
                <a:cs typeface="Verdana"/>
              </a:rPr>
              <a:t>a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2C2A29"/>
                </a:solidFill>
                <a:latin typeface="Verdana"/>
                <a:cs typeface="Verdana"/>
              </a:rPr>
              <a:t>data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source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2C2A29"/>
                </a:solidFill>
                <a:latin typeface="Verdana"/>
                <a:cs typeface="Verdana"/>
              </a:rPr>
              <a:t>with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2C2A29"/>
                </a:solidFill>
                <a:latin typeface="Verdana"/>
                <a:cs typeface="Verdana"/>
              </a:rPr>
              <a:t>many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Measures,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but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only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needing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to  </a:t>
            </a:r>
            <a:r>
              <a:rPr sz="2000" spc="-60" dirty="0">
                <a:solidFill>
                  <a:srgbClr val="2C2A29"/>
                </a:solidFill>
                <a:latin typeface="Verdana"/>
                <a:cs typeface="Verdana"/>
              </a:rPr>
              <a:t>display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C2A29"/>
                </a:solidFill>
                <a:latin typeface="Verdana"/>
                <a:cs typeface="Verdana"/>
              </a:rPr>
              <a:t>a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20" dirty="0">
                <a:solidFill>
                  <a:srgbClr val="2C2A29"/>
                </a:solidFill>
                <a:latin typeface="Verdana"/>
                <a:cs typeface="Verdana"/>
              </a:rPr>
              <a:t>few:</a:t>
            </a:r>
            <a:endParaRPr sz="2000">
              <a:latin typeface="Verdana"/>
              <a:cs typeface="Verdana"/>
            </a:endParaRPr>
          </a:p>
          <a:p>
            <a:pPr marL="851535" lvl="1" indent="-382270">
              <a:lnSpc>
                <a:spcPct val="100000"/>
              </a:lnSpc>
              <a:spcBef>
                <a:spcPts val="375"/>
              </a:spcBef>
              <a:buClr>
                <a:srgbClr val="000000"/>
              </a:buClr>
              <a:buFont typeface="Tahoma"/>
              <a:buChar char="○"/>
              <a:tabLst>
                <a:tab pos="851535" algn="l"/>
                <a:tab pos="852169" algn="l"/>
              </a:tabLst>
            </a:pP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Move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C2A29"/>
                </a:solidFill>
                <a:latin typeface="Verdana"/>
                <a:cs typeface="Verdana"/>
              </a:rPr>
              <a:t>one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Measure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to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text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icon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on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20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b="1" spc="-55" dirty="0">
                <a:solidFill>
                  <a:srgbClr val="2C2A29"/>
                </a:solidFill>
                <a:latin typeface="Tahoma"/>
                <a:cs typeface="Tahoma"/>
              </a:rPr>
              <a:t>Marks</a:t>
            </a:r>
            <a:r>
              <a:rPr sz="2000" b="1" spc="-70" dirty="0">
                <a:solidFill>
                  <a:srgbClr val="2C2A29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shelf</a:t>
            </a:r>
            <a:endParaRPr sz="2000">
              <a:latin typeface="Verdana"/>
              <a:cs typeface="Verdana"/>
            </a:endParaRPr>
          </a:p>
          <a:p>
            <a:pPr marL="851535" lvl="1" indent="-382270">
              <a:lnSpc>
                <a:spcPct val="100000"/>
              </a:lnSpc>
              <a:spcBef>
                <a:spcPts val="375"/>
              </a:spcBef>
              <a:buFont typeface="Tahoma"/>
              <a:buChar char="○"/>
              <a:tabLst>
                <a:tab pos="851535" algn="l"/>
                <a:tab pos="852169" algn="l"/>
              </a:tabLst>
            </a:pP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Double-click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on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other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Measures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to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send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20" dirty="0">
                <a:solidFill>
                  <a:srgbClr val="2C2A29"/>
                </a:solidFill>
                <a:latin typeface="Verdana"/>
                <a:cs typeface="Verdana"/>
              </a:rPr>
              <a:t>them</a:t>
            </a:r>
            <a:r>
              <a:rPr sz="2000" spc="-180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2C2A29"/>
                </a:solidFill>
                <a:latin typeface="Verdana"/>
                <a:cs typeface="Verdana"/>
              </a:rPr>
              <a:t>to</a:t>
            </a:r>
            <a:r>
              <a:rPr sz="2000" spc="-17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C2A29"/>
                </a:solidFill>
                <a:latin typeface="Verdana"/>
                <a:cs typeface="Verdana"/>
              </a:rPr>
              <a:t>the</a:t>
            </a:r>
            <a:r>
              <a:rPr sz="2000" spc="-19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b="1" spc="-55" dirty="0">
                <a:solidFill>
                  <a:srgbClr val="2C2A29"/>
                </a:solidFill>
                <a:latin typeface="Tahoma"/>
                <a:cs typeface="Tahoma"/>
              </a:rPr>
              <a:t>Marks</a:t>
            </a:r>
            <a:r>
              <a:rPr sz="2000" b="1" spc="-65" dirty="0">
                <a:solidFill>
                  <a:srgbClr val="2C2A29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shelf</a:t>
            </a:r>
            <a:endParaRPr sz="2000">
              <a:latin typeface="Verdana"/>
              <a:cs typeface="Verdana"/>
            </a:endParaRPr>
          </a:p>
          <a:p>
            <a:pPr marL="851535" marR="5080" lvl="1" indent="-382270">
              <a:lnSpc>
                <a:spcPct val="115599"/>
              </a:lnSpc>
              <a:buFont typeface="Tahoma"/>
              <a:buChar char="○"/>
              <a:tabLst>
                <a:tab pos="851535" algn="l"/>
                <a:tab pos="852169" algn="l"/>
              </a:tabLst>
            </a:pP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Measure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2C2A29"/>
                </a:solidFill>
                <a:latin typeface="Verdana"/>
                <a:cs typeface="Verdana"/>
              </a:rPr>
              <a:t>Values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2C2A29"/>
                </a:solidFill>
                <a:latin typeface="Verdana"/>
                <a:cs typeface="Verdana"/>
              </a:rPr>
              <a:t>will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C2A29"/>
                </a:solidFill>
                <a:latin typeface="Verdana"/>
                <a:cs typeface="Verdana"/>
              </a:rPr>
              <a:t>automatically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2C2A29"/>
                </a:solidFill>
                <a:latin typeface="Verdana"/>
                <a:cs typeface="Verdana"/>
              </a:rPr>
              <a:t>appear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C2A29"/>
                </a:solidFill>
                <a:latin typeface="Verdana"/>
                <a:cs typeface="Verdana"/>
              </a:rPr>
              <a:t>once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2C2A29"/>
                </a:solidFill>
                <a:latin typeface="Verdana"/>
                <a:cs typeface="Verdana"/>
              </a:rPr>
              <a:t>second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C2A29"/>
                </a:solidFill>
                <a:latin typeface="Verdana"/>
                <a:cs typeface="Verdana"/>
              </a:rPr>
              <a:t>Measure  is</a:t>
            </a:r>
            <a:r>
              <a:rPr sz="2000" spc="-185" dirty="0">
                <a:solidFill>
                  <a:srgbClr val="2C2A29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2A29"/>
                </a:solidFill>
                <a:latin typeface="Verdana"/>
                <a:cs typeface="Verdana"/>
              </a:rPr>
              <a:t>added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9125" y="834311"/>
            <a:ext cx="337057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5" dirty="0">
                <a:solidFill>
                  <a:srgbClr val="2C2A29"/>
                </a:solidFill>
              </a:rPr>
              <a:t>Tip</a:t>
            </a:r>
            <a:r>
              <a:rPr sz="2400" b="1" spc="-70" dirty="0">
                <a:solidFill>
                  <a:srgbClr val="2C2A29"/>
                </a:solidFill>
              </a:rPr>
              <a:t> for</a:t>
            </a:r>
            <a:r>
              <a:rPr sz="2400" b="1" spc="-65" dirty="0">
                <a:solidFill>
                  <a:srgbClr val="2C2A29"/>
                </a:solidFill>
              </a:rPr>
              <a:t> </a:t>
            </a:r>
            <a:r>
              <a:rPr sz="2400" b="1" spc="-75" dirty="0">
                <a:solidFill>
                  <a:srgbClr val="2C2A29"/>
                </a:solidFill>
              </a:rPr>
              <a:t>Measure</a:t>
            </a:r>
            <a:r>
              <a:rPr sz="2400" b="1" spc="-65" dirty="0">
                <a:solidFill>
                  <a:srgbClr val="2C2A29"/>
                </a:solidFill>
              </a:rPr>
              <a:t> </a:t>
            </a:r>
            <a:r>
              <a:rPr sz="2400" b="1" spc="-35" dirty="0">
                <a:solidFill>
                  <a:srgbClr val="2C2A29"/>
                </a:solidFill>
              </a:rPr>
              <a:t>Values</a:t>
            </a:r>
            <a:endParaRPr sz="2400" b="1"/>
          </a:p>
        </p:txBody>
      </p:sp>
      <p:grpSp>
        <p:nvGrpSpPr>
          <p:cNvPr id="5" name="object 5"/>
          <p:cNvGrpSpPr/>
          <p:nvPr/>
        </p:nvGrpSpPr>
        <p:grpSpPr>
          <a:xfrm>
            <a:off x="2375413" y="4047466"/>
            <a:ext cx="1939289" cy="2583180"/>
            <a:chOff x="2375412" y="3035599"/>
            <a:chExt cx="1939289" cy="19373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0100" y="3040299"/>
              <a:ext cx="1929449" cy="192762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80175" y="3040362"/>
              <a:ext cx="1929764" cy="1927860"/>
            </a:xfrm>
            <a:custGeom>
              <a:avLst/>
              <a:gdLst/>
              <a:ahLst/>
              <a:cxnLst/>
              <a:rect l="l" t="t" r="r" b="b"/>
              <a:pathLst>
                <a:path w="1929764" h="1927860">
                  <a:moveTo>
                    <a:pt x="0" y="0"/>
                  </a:moveTo>
                  <a:lnTo>
                    <a:pt x="1929299" y="0"/>
                  </a:lnTo>
                  <a:lnTo>
                    <a:pt x="1929299" y="1927499"/>
                  </a:lnTo>
                  <a:lnTo>
                    <a:pt x="0" y="1927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249512" y="3930283"/>
            <a:ext cx="1790700" cy="2817707"/>
            <a:chOff x="5249512" y="2947712"/>
            <a:chExt cx="1790700" cy="21132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4275" y="2952512"/>
              <a:ext cx="1781088" cy="21031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254275" y="2952475"/>
              <a:ext cx="1781175" cy="2103755"/>
            </a:xfrm>
            <a:custGeom>
              <a:avLst/>
              <a:gdLst/>
              <a:ahLst/>
              <a:cxnLst/>
              <a:rect l="l" t="t" r="r" b="b"/>
              <a:pathLst>
                <a:path w="1781175" h="2103754">
                  <a:moveTo>
                    <a:pt x="0" y="0"/>
                  </a:moveTo>
                  <a:lnTo>
                    <a:pt x="1781099" y="0"/>
                  </a:lnTo>
                  <a:lnTo>
                    <a:pt x="1781099" y="2103299"/>
                  </a:lnTo>
                  <a:lnTo>
                    <a:pt x="0" y="2103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767</Words>
  <Application>Microsoft Office PowerPoint</Application>
  <PresentationFormat>On-screen Show (4:3)</PresentationFormat>
  <Paragraphs>132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Tableau – Dimensions, Measure, Discrete, Continuous</vt:lpstr>
      <vt:lpstr>Tableau - Datatypes</vt:lpstr>
      <vt:lpstr>Tableau – types of connection</vt:lpstr>
      <vt:lpstr>Extensions</vt:lpstr>
      <vt:lpstr>Dimension VS Measures</vt:lpstr>
      <vt:lpstr>Slide 6</vt:lpstr>
      <vt:lpstr>Dimension VS Measures</vt:lpstr>
      <vt:lpstr>Slide 8</vt:lpstr>
      <vt:lpstr>Slide 9</vt:lpstr>
      <vt:lpstr>Dimension VS Measures</vt:lpstr>
      <vt:lpstr>Dimension VS Measures</vt:lpstr>
      <vt:lpstr>Switching Dimensions and Measures</vt:lpstr>
      <vt:lpstr>Slide 13</vt:lpstr>
      <vt:lpstr>Continuous VS Discrete</vt:lpstr>
      <vt:lpstr>Continuous VS Discrete</vt:lpstr>
      <vt:lpstr>Continuous VS Discrete</vt:lpstr>
      <vt:lpstr>Continuous VS Discrete</vt:lpstr>
      <vt:lpstr>Switching Discrete and Continuous</vt:lpstr>
      <vt:lpstr>Caution: Dates</vt:lpstr>
      <vt:lpstr>Continuous v. Discrete Dates Example</vt:lpstr>
      <vt:lpstr>Switching Continuous and Discrete Dates</vt:lpstr>
      <vt:lpstr>Understanding Measure Names v. Measure Values</vt:lpstr>
      <vt:lpstr>Utilizing Measure Values</vt:lpstr>
      <vt:lpstr>Utilizing Measure Names</vt:lpstr>
      <vt:lpstr>Staying in Sync</vt:lpstr>
      <vt:lpstr>Tip for Measure Values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AI&amp;DS</dc:creator>
  <cp:lastModifiedBy>Administrator</cp:lastModifiedBy>
  <cp:revision>41</cp:revision>
  <dcterms:created xsi:type="dcterms:W3CDTF">2023-01-10T04:05:47Z</dcterms:created>
  <dcterms:modified xsi:type="dcterms:W3CDTF">2023-01-18T03:29:29Z</dcterms:modified>
</cp:coreProperties>
</file>