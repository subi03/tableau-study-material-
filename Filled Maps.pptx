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257" r:id="rId6"/>
    <p:sldId id="258" r:id="rId7"/>
    <p:sldId id="259" r:id="rId8"/>
    <p:sldId id="268" r:id="rId9"/>
    <p:sldId id="269" r:id="rId10"/>
    <p:sldId id="270" r:id="rId11"/>
    <p:sldId id="271" r:id="rId12"/>
    <p:sldId id="264" r:id="rId13"/>
    <p:sldId id="265" r:id="rId14"/>
    <p:sldId id="263" r:id="rId15"/>
    <p:sldId id="266" r:id="rId16"/>
    <p:sldId id="26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7" d="100"/>
          <a:sy n="57" d="100"/>
        </p:scale>
        <p:origin x="-379" y="5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5BFF458-9438-47F6-82DF-FC4C7B82CDE0}"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7DE63-3619-4C22-8F6C-4CA378B6CF4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BFF458-9438-47F6-82DF-FC4C7B82CDE0}"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7DE63-3619-4C22-8F6C-4CA378B6CF4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5BFF458-9438-47F6-82DF-FC4C7B82CDE0}"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7DE63-3619-4C22-8F6C-4CA378B6CF4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5BFF458-9438-47F6-82DF-FC4C7B82CDE0}" type="datetimeFigureOut">
              <a:rPr lang="en-US" smtClean="0"/>
              <a:t>2/27/2023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97DE63-3619-4C22-8F6C-4CA378B6CF4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5BFF458-9438-47F6-82DF-FC4C7B82CDE0}" type="datetimeFigureOut">
              <a:rPr lang="en-US" smtClean="0"/>
              <a:t>2/27/2023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97DE63-3619-4C22-8F6C-4CA378B6CF4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5BFF458-9438-47F6-82DF-FC4C7B82CDE0}" type="datetimeFigureOut">
              <a:rPr lang="en-US" smtClean="0"/>
              <a:t>2/27/2023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97DE63-3619-4C22-8F6C-4CA378B6CF4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BFF458-9438-47F6-82DF-FC4C7B82CDE0}" type="datetimeFigureOut">
              <a:rPr lang="en-US" smtClean="0"/>
              <a:t>2/27/2023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97DE63-3619-4C22-8F6C-4CA378B6CF4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BFF458-9438-47F6-82DF-FC4C7B82CDE0}" type="datetimeFigureOut">
              <a:rPr lang="en-US" smtClean="0"/>
              <a:t>2/27/2023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97DE63-3619-4C22-8F6C-4CA378B6CF4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BFF458-9438-47F6-82DF-FC4C7B82CDE0}" type="datetimeFigureOut">
              <a:rPr lang="en-US" smtClean="0"/>
              <a:t>2/27/2023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97DE63-3619-4C22-8F6C-4CA378B6CF4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BFF458-9438-47F6-82DF-FC4C7B82CDE0}"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7DE63-3619-4C22-8F6C-4CA378B6CF4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BFF458-9438-47F6-82DF-FC4C7B82CDE0}"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97DE63-3619-4C22-8F6C-4CA378B6CF4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BFF458-9438-47F6-82DF-FC4C7B82CDE0}" type="datetimeFigureOut">
              <a:rPr lang="en-US" smtClean="0"/>
              <a:t>2/27/2023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97DE63-3619-4C22-8F6C-4CA378B6CF4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evolytics.com/wp-content/uploads/2016/03/Tableau-Symbol-Map-for-Dual-Axis-Map.jp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Filled Maps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Filled Maps</a:t>
            </a:r>
            <a:endParaRPr lang="en-US" dirty="0"/>
          </a:p>
        </p:txBody>
      </p:sp>
      <p:sp>
        <p:nvSpPr>
          <p:cNvPr id="3" name="Content Placeholder 2"/>
          <p:cNvSpPr>
            <a:spLocks noGrp="1"/>
          </p:cNvSpPr>
          <p:nvPr>
            <p:ph idx="1"/>
          </p:nvPr>
        </p:nvSpPr>
        <p:spPr/>
        <p:txBody>
          <a:bodyPr>
            <a:normAutofit fontScale="85000" lnSpcReduction="10000"/>
          </a:bodyPr>
          <a:lstStyle/>
          <a:p>
            <a:r>
              <a:rPr lang="en-US" dirty="0"/>
              <a:t>Filled maps are one of the easier chart types to create in Tableau using Show Me.</a:t>
            </a:r>
          </a:p>
          <a:p>
            <a:r>
              <a:rPr lang="en-US" dirty="0"/>
              <a:t>To do so, simply click a geographic dimension (identified by a globe icon) from the Dimensions Shelf and choose ‘filled maps’ under Show Me</a:t>
            </a:r>
            <a:r>
              <a:rPr lang="en-US" dirty="0" smtClean="0"/>
              <a:t>.</a:t>
            </a:r>
          </a:p>
          <a:p>
            <a:r>
              <a:rPr lang="en-US" dirty="0"/>
              <a:t>To create a filled map manually, we will double-click on the geographic dimension for State in the Sales – Superstore data set that comes with Tableau</a:t>
            </a:r>
            <a:r>
              <a:rPr lang="en-US" dirty="0" smtClean="0"/>
              <a:t>.</a:t>
            </a:r>
            <a:r>
              <a:rPr lang="en-US" dirty="0"/>
              <a:t/>
            </a:r>
            <a:br>
              <a:rPr lang="en-US" dirty="0"/>
            </a:br>
            <a:endParaRPr lang="en-US" dirty="0"/>
          </a:p>
          <a:p>
            <a:pPr>
              <a:buNone/>
            </a:pP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Filled Maps</a:t>
            </a:r>
            <a:endParaRPr lang="en-US" dirty="0"/>
          </a:p>
        </p:txBody>
      </p:sp>
      <p:sp>
        <p:nvSpPr>
          <p:cNvPr id="3" name="Content Placeholder 2"/>
          <p:cNvSpPr>
            <a:spLocks noGrp="1"/>
          </p:cNvSpPr>
          <p:nvPr>
            <p:ph idx="1"/>
          </p:nvPr>
        </p:nvSpPr>
        <p:spPr>
          <a:xfrm>
            <a:off x="152400" y="1600200"/>
            <a:ext cx="8839200" cy="4648200"/>
          </a:xfrm>
        </p:spPr>
        <p:txBody>
          <a:bodyPr>
            <a:normAutofit fontScale="77500" lnSpcReduction="20000"/>
          </a:bodyPr>
          <a:lstStyle/>
          <a:p>
            <a:r>
              <a:rPr lang="en-US" dirty="0"/>
              <a:t>By default, Tableau generates a symbol map, placing a circle at the intersection of Longitude and Latitude for each state. In keeping with the “looking under the hood” theme of not relying on Show Me, take a look at the location of each dimension and measure.</a:t>
            </a:r>
          </a:p>
          <a:p>
            <a:r>
              <a:rPr lang="en-US" dirty="0"/>
              <a:t>First, Longitude is on the Columns Shelf, which can also be thought of as the X-axis.</a:t>
            </a:r>
          </a:p>
          <a:p>
            <a:r>
              <a:rPr lang="en-US" dirty="0"/>
              <a:t>Conversely, Latitude is on the Rows Shelf, or the Y-axis.</a:t>
            </a:r>
          </a:p>
          <a:p>
            <a:r>
              <a:rPr lang="en-US" dirty="0"/>
              <a:t>On the Marks Shelf, we can see that State is the most granular level of detail in the view. Even without seeing the map in the view, we should be able to guess what Tableau will display just by seeing the geographic fields on the Columns Shelf and Rows Shelf, the level of detail on the Marks Shelf, and the mark type of ‘Automatic’ (which is ‘Circle’ by default</a:t>
            </a:r>
            <a:r>
              <a:rPr lang="en-US" dirty="0" smtClean="0"/>
              <a: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Filled Maps</a:t>
            </a:r>
            <a:endParaRPr lang="en-US" dirty="0"/>
          </a:p>
        </p:txBody>
      </p:sp>
      <p:sp>
        <p:nvSpPr>
          <p:cNvPr id="3" name="Content Placeholder 2"/>
          <p:cNvSpPr>
            <a:spLocks noGrp="1"/>
          </p:cNvSpPr>
          <p:nvPr>
            <p:ph idx="1"/>
          </p:nvPr>
        </p:nvSpPr>
        <p:spPr/>
        <p:txBody>
          <a:bodyPr>
            <a:normAutofit fontScale="70000" lnSpcReduction="20000"/>
          </a:bodyPr>
          <a:lstStyle/>
          <a:p>
            <a:r>
              <a:rPr lang="en-US" dirty="0"/>
              <a:t>In order to change this from a symbol map to a filled map, change the mark type from ‘Automatic’ to ‘Filled Map’. By selecting this special mark type in Tableau, you will see that the single circles on each state have been converted to nice, smooth polygons that trace the entire border of each state.</a:t>
            </a:r>
          </a:p>
          <a:p>
            <a:r>
              <a:rPr lang="en-US" dirty="0"/>
              <a:t>From here, you can encode the filled map by color by placing a field on the Color Marks Card.</a:t>
            </a:r>
          </a:p>
          <a:p>
            <a:r>
              <a:rPr lang="en-US" dirty="0"/>
              <a:t>Perhaps you want to color the territories by a measure such as Sales or Profit.</a:t>
            </a:r>
          </a:p>
          <a:p>
            <a:r>
              <a:rPr lang="en-US" dirty="0"/>
              <a:t>You can also color the marks by a dimension, as is the case in this example, where the states are colored by the Region dimension</a:t>
            </a:r>
            <a:r>
              <a:rPr lang="en-US" dirty="0" smtClean="0"/>
              <a:t>.</a:t>
            </a:r>
            <a:br>
              <a:rPr lang="en-US" dirty="0" smtClean="0"/>
            </a:b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Filled Maps</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457200" y="1812483"/>
            <a:ext cx="8229600" cy="410139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Filled Maps</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18370" y="1752600"/>
            <a:ext cx="9025630" cy="452384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Based on the Sales, we can see the maximum profit </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84472" y="1815816"/>
            <a:ext cx="9059528" cy="45849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Dual Axis Maps</a:t>
            </a:r>
            <a:endParaRPr lang="en-US" dirty="0"/>
          </a:p>
        </p:txBody>
      </p:sp>
      <p:sp>
        <p:nvSpPr>
          <p:cNvPr id="3" name="Content Placeholder 2"/>
          <p:cNvSpPr>
            <a:spLocks noGrp="1"/>
          </p:cNvSpPr>
          <p:nvPr>
            <p:ph idx="1"/>
          </p:nvPr>
        </p:nvSpPr>
        <p:spPr/>
        <p:txBody>
          <a:bodyPr/>
          <a:lstStyle/>
          <a:p>
            <a:r>
              <a:rPr lang="en-US" dirty="0"/>
              <a:t>This type of map is useful any time you want to combine two maps into one to help provide additional context that would not be available when showing only one map or the other.</a:t>
            </a:r>
          </a:p>
          <a:p>
            <a:pPr marL="0" indent="0">
              <a:buNone/>
            </a:pP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p:cNvSpPr>
            <a:spLocks noChangeArrowheads="1"/>
          </p:cNvSpPr>
          <p:nvPr/>
        </p:nvSpPr>
        <p:spPr bwMode="auto">
          <a:xfrm>
            <a:off x="0" y="0"/>
            <a:ext cx="9144000" cy="457200"/>
          </a:xfrm>
          <a:prstGeom prst="rect">
            <a:avLst/>
          </a:prstGeom>
          <a:solidFill>
            <a:srgbClr val="FFFFFF"/>
          </a:solid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rgbClr val="131313"/>
                </a:solidFill>
                <a:effectLst/>
                <a:latin typeface="Red Hat Display"/>
                <a:cs typeface="Arial" pitchFamily="34" charset="0"/>
                <a:hlinkClick r:id="rId2"/>
              </a:rPr>
              <a:t>Create the First Map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131313"/>
                </a:solidFill>
                <a:effectLst/>
                <a:latin typeface="Red Hat Display"/>
                <a:cs typeface="Arial" pitchFamily="34" charset="0"/>
                <a:hlinkClick r:id="rId2"/>
              </a:rPr>
              <a:t>To create a dual-axis map in Tableau, start by creating one of the two maps that you want to combine. We will start this example by creating a symbol map for sales by city.</a:t>
            </a:r>
            <a:endParaRPr kumimoji="0" lang="en-US" sz="600" b="0" i="0" u="none" strike="noStrike" cap="none" normalizeH="0" baseline="0" smtClean="0">
              <a:ln>
                <a:noFill/>
              </a:ln>
              <a:solidFill>
                <a:schemeClr val="tx1"/>
              </a:solidFill>
              <a:effectLst/>
              <a:latin typeface="Arial" pitchFamily="34" charset="0"/>
              <a:cs typeface="Arial" pitchFamily="34" charset="0"/>
              <a:hlinkClick r:id="rId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sng" strike="noStrike" cap="none" normalizeH="0" baseline="0" smtClean="0">
                <a:ln>
                  <a:noFill/>
                </a:ln>
                <a:solidFill>
                  <a:srgbClr val="006AB7"/>
                </a:solidFill>
                <a:effectLst/>
                <a:latin typeface="Red Hat Display"/>
                <a:cs typeface="Arial" pitchFamily="34" charset="0"/>
                <a:hlinkClick r:id="rId2"/>
              </a:rPr>
              <a:t>  </a:t>
            </a:r>
            <a:endParaRPr kumimoji="0" lang="en-US" sz="6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2500" b="0" i="0" u="sng" strike="noStrike" cap="none" normalizeH="0" baseline="0" smtClean="0">
                <a:ln>
                  <a:noFill/>
                </a:ln>
                <a:solidFill>
                  <a:srgbClr val="006AB7"/>
                </a:solidFill>
                <a:effectLst/>
                <a:latin typeface="Red Hat Display"/>
                <a:cs typeface="Arial" pitchFamily="34" charset="0"/>
              </a:rPr>
              <a:t/>
            </a:r>
            <a:br>
              <a:rPr kumimoji="0" lang="en-US" sz="32500" b="0" i="0" u="sng" strike="noStrike" cap="none" normalizeH="0" baseline="0" smtClean="0">
                <a:ln>
                  <a:noFill/>
                </a:ln>
                <a:solidFill>
                  <a:srgbClr val="006AB7"/>
                </a:solidFill>
                <a:effectLst/>
                <a:latin typeface="Red Hat Display"/>
                <a:cs typeface="Arial" pitchFamily="34" charset="0"/>
              </a:rPr>
            </a:br>
            <a:endParaRPr kumimoji="0" lang="en-US" sz="32500" b="0" i="0" u="sng" strike="noStrike" cap="none" normalizeH="0" baseline="0" smtClean="0">
              <a:ln>
                <a:noFill/>
              </a:ln>
              <a:solidFill>
                <a:srgbClr val="006AB7"/>
              </a:solidFill>
              <a:effectLst/>
              <a:latin typeface="Red Hat Display"/>
              <a:cs typeface="Arial" pitchFamily="34" charset="0"/>
            </a:endParaRPr>
          </a:p>
        </p:txBody>
      </p:sp>
      <p:pic>
        <p:nvPicPr>
          <p:cNvPr id="9218" name="Picture 2" descr="Tableau Symbol Map for Dual-Axis Map">
            <a:hlinkClick r:id="rId2"/>
          </p:cNvPr>
          <p:cNvPicPr>
            <a:picLocks noChangeAspect="1" noChangeArrowheads="1"/>
          </p:cNvPicPr>
          <p:nvPr/>
        </p:nvPicPr>
        <p:blipFill>
          <a:blip r:embed="rId3"/>
          <a:srcRect/>
          <a:stretch>
            <a:fillRect/>
          </a:stretch>
        </p:blipFill>
        <p:spPr bwMode="auto">
          <a:xfrm>
            <a:off x="0" y="1695449"/>
            <a:ext cx="8839200" cy="5162551"/>
          </a:xfrm>
          <a:prstGeom prst="rect">
            <a:avLst/>
          </a:prstGeom>
          <a:noFill/>
        </p:spPr>
      </p:pic>
      <p:sp>
        <p:nvSpPr>
          <p:cNvPr id="7" name="Rectangle 6"/>
          <p:cNvSpPr/>
          <p:nvPr/>
        </p:nvSpPr>
        <p:spPr>
          <a:xfrm>
            <a:off x="0" y="152400"/>
            <a:ext cx="8763000" cy="923330"/>
          </a:xfrm>
          <a:prstGeom prst="rect">
            <a:avLst/>
          </a:prstGeom>
        </p:spPr>
        <p:txBody>
          <a:bodyPr wrap="square">
            <a:spAutoFit/>
          </a:bodyPr>
          <a:lstStyle/>
          <a:p>
            <a:r>
              <a:rPr lang="en-US" b="1" dirty="0"/>
              <a:t>Create the First Map</a:t>
            </a:r>
          </a:p>
          <a:p>
            <a:r>
              <a:rPr lang="en-US" dirty="0"/>
              <a:t>To create a dual-axis map in Tableau, start by creating one of the two maps that you want to combine. We will start this </a:t>
            </a:r>
            <a:r>
              <a:rPr lang="en-US" dirty="0" smtClean="0"/>
              <a:t>by </a:t>
            </a:r>
            <a:r>
              <a:rPr lang="en-US" dirty="0"/>
              <a:t>creating a symbol map for sales by city.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63562"/>
          </a:xfrm>
        </p:spPr>
        <p:txBody>
          <a:bodyPr>
            <a:normAutofit fontScale="90000"/>
          </a:bodyPr>
          <a:lstStyle/>
          <a:p>
            <a:r>
              <a:rPr lang="en-US" b="1" dirty="0" smtClean="0"/>
              <a:t>Duplicate to Create the Second Map</a:t>
            </a:r>
            <a:br>
              <a:rPr lang="en-US" b="1" dirty="0" smtClean="0"/>
            </a:b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Once </a:t>
            </a:r>
            <a:r>
              <a:rPr lang="en-US" dirty="0"/>
              <a:t>the first map is created, you can create a duplicate of that map in one of two ways:</a:t>
            </a:r>
          </a:p>
          <a:p>
            <a:r>
              <a:rPr lang="en-US" dirty="0"/>
              <a:t>While holding the Control key, left click and drag the Longitude field on the Columns Shelf or the Latitude field on the Rows Shelf right next to itself. This is a shortcut for duplicating fields that works with any blue or green pill in Tableau.</a:t>
            </a:r>
          </a:p>
          <a:p>
            <a:r>
              <a:rPr lang="en-US" dirty="0"/>
              <a:t>Drag Longitude from the Measures Shelf to the second position on the Columns Shelf or Latitude from the Measures Shelf to the second position on the Rows Shelf</a:t>
            </a:r>
            <a:r>
              <a:rPr lang="en-US" dirty="0" smtClean="0"/>
              <a:t>.</a:t>
            </a:r>
            <a:br>
              <a:rPr lang="en-US" dirty="0" smtClean="0"/>
            </a:b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Combining the Maps</a:t>
            </a:r>
            <a:endParaRPr lang="en-US" dirty="0"/>
          </a:p>
        </p:txBody>
      </p:sp>
      <p:sp>
        <p:nvSpPr>
          <p:cNvPr id="3" name="Content Placeholder 2"/>
          <p:cNvSpPr>
            <a:spLocks noGrp="1"/>
          </p:cNvSpPr>
          <p:nvPr>
            <p:ph idx="1"/>
          </p:nvPr>
        </p:nvSpPr>
        <p:spPr/>
        <p:txBody>
          <a:bodyPr>
            <a:normAutofit fontScale="92500"/>
          </a:bodyPr>
          <a:lstStyle/>
          <a:p>
            <a:r>
              <a:rPr lang="en-US" dirty="0"/>
              <a:t>To combine the maps, click on the second geographic measure on the Rows or Columns Shelf (depending on whether you duplicated Longitude or Latitude) and click “Dual-Axis”. </a:t>
            </a:r>
            <a:endParaRPr lang="en-US" dirty="0" smtClean="0"/>
          </a:p>
          <a:p>
            <a:r>
              <a:rPr lang="en-US" dirty="0" smtClean="0"/>
              <a:t>If </a:t>
            </a:r>
            <a:r>
              <a:rPr lang="en-US" dirty="0"/>
              <a:t>you want to change the float order of the maps, drag the second geographic measure on the Rows or Columns Shelf to the first position.</a:t>
            </a:r>
          </a:p>
          <a:p>
            <a:pPr>
              <a:buNone/>
            </a:pP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Dual Axis Maps</a:t>
            </a: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0" y="1219200"/>
            <a:ext cx="9144000" cy="504950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Dual Axis Maps</a:t>
            </a:r>
            <a:endParaRPr lang="en-US" dirty="0"/>
          </a:p>
        </p:txBody>
      </p:sp>
      <p:pic>
        <p:nvPicPr>
          <p:cNvPr id="6146" name="Picture 2"/>
          <p:cNvPicPr>
            <a:picLocks noGrp="1" noChangeAspect="1" noChangeArrowheads="1"/>
          </p:cNvPicPr>
          <p:nvPr>
            <p:ph idx="1"/>
          </p:nvPr>
        </p:nvPicPr>
        <p:blipFill>
          <a:blip r:embed="rId2"/>
          <a:srcRect/>
          <a:stretch>
            <a:fillRect/>
          </a:stretch>
        </p:blipFill>
        <p:spPr bwMode="auto">
          <a:xfrm>
            <a:off x="0" y="1645891"/>
            <a:ext cx="9176020" cy="445010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Dual Axis Maps</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0" y="1862651"/>
            <a:ext cx="8991600" cy="437152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Dual Axis Maps</a:t>
            </a:r>
            <a:endParaRPr lang="en-US" dirty="0"/>
          </a:p>
        </p:txBody>
      </p:sp>
      <p:pic>
        <p:nvPicPr>
          <p:cNvPr id="7170" name="Picture 2"/>
          <p:cNvPicPr>
            <a:picLocks noGrp="1" noChangeAspect="1" noChangeArrowheads="1"/>
          </p:cNvPicPr>
          <p:nvPr>
            <p:ph idx="1"/>
          </p:nvPr>
        </p:nvPicPr>
        <p:blipFill>
          <a:blip r:embed="rId2"/>
          <a:srcRect/>
          <a:stretch>
            <a:fillRect/>
          </a:stretch>
        </p:blipFill>
        <p:spPr bwMode="auto">
          <a:xfrm>
            <a:off x="0" y="1864467"/>
            <a:ext cx="9144000" cy="44415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Dual Axis Maps</a:t>
            </a:r>
            <a:endParaRPr lang="en-US" dirty="0"/>
          </a:p>
        </p:txBody>
      </p:sp>
      <p:pic>
        <p:nvPicPr>
          <p:cNvPr id="8194" name="Picture 2"/>
          <p:cNvPicPr>
            <a:picLocks noGrp="1" noChangeAspect="1" noChangeArrowheads="1"/>
          </p:cNvPicPr>
          <p:nvPr>
            <p:ph idx="1"/>
          </p:nvPr>
        </p:nvPicPr>
        <p:blipFill>
          <a:blip r:embed="rId2"/>
          <a:srcRect/>
          <a:stretch>
            <a:fillRect/>
          </a:stretch>
        </p:blipFill>
        <p:spPr bwMode="auto">
          <a:xfrm>
            <a:off x="457200" y="1864660"/>
            <a:ext cx="8229600" cy="399704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TotalTime>
  <Words>693</Words>
  <Application>Microsoft Office PowerPoint</Application>
  <PresentationFormat>On-screen Show (4:3)</PresentationFormat>
  <Paragraphs>41</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Filled Maps</vt:lpstr>
      <vt:lpstr>Filled Maps</vt:lpstr>
      <vt:lpstr>Filled Maps</vt:lpstr>
      <vt:lpstr>Filled Maps</vt:lpstr>
      <vt:lpstr>Filled Maps</vt:lpstr>
      <vt:lpstr>Filled Maps</vt:lpstr>
      <vt:lpstr>Based on the Sales, we can see the maximum profit </vt:lpstr>
      <vt:lpstr>Dual Axis Maps</vt:lpstr>
      <vt:lpstr>PowerPoint Presentation</vt:lpstr>
      <vt:lpstr>Duplicate to Create the Second Map </vt:lpstr>
      <vt:lpstr>Combining the Maps</vt:lpstr>
      <vt:lpstr>Dual Axis Maps</vt:lpstr>
      <vt:lpstr>Dual Axis Maps</vt:lpstr>
      <vt:lpstr>Dual Axis Maps</vt:lpstr>
      <vt:lpstr>Dual Axis Maps</vt:lpstr>
      <vt:lpstr>Dual Axis Maps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Filled Maps</dc:title>
  <dc:creator>ACER</dc:creator>
  <cp:lastModifiedBy>COS25</cp:lastModifiedBy>
  <cp:revision>7</cp:revision>
  <dcterms:created xsi:type="dcterms:W3CDTF">2023-02-26T12:35:20Z</dcterms:created>
  <dcterms:modified xsi:type="dcterms:W3CDTF">2023-02-27T04:21:40Z</dcterms:modified>
</cp:coreProperties>
</file>