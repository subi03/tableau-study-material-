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750" y="-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278300" y="2751162"/>
            <a:ext cx="588010" cy="0"/>
          </a:xfrm>
          <a:custGeom>
            <a:avLst/>
            <a:gdLst/>
            <a:ahLst/>
            <a:cxnLst/>
            <a:rect l="l" t="t" r="r" b="b"/>
            <a:pathLst>
              <a:path w="588010">
                <a:moveTo>
                  <a:pt x="0" y="0"/>
                </a:moveTo>
                <a:lnTo>
                  <a:pt x="587399" y="0"/>
                </a:lnTo>
              </a:path>
            </a:pathLst>
          </a:custGeom>
          <a:ln w="76199">
            <a:solidFill>
              <a:srgbClr val="4285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92350" y="208669"/>
            <a:ext cx="7759298" cy="224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FF572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FF572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FF572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rgbClr val="FF572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286"/>
            <a:ext cx="7795895" cy="528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rgbClr val="FF5722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942" y="1152855"/>
            <a:ext cx="8340090" cy="2303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33333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ormula" TargetMode="External"/><Relationship Id="rId2" Type="http://schemas.openxmlformats.org/officeDocument/2006/relationships/hyperlink" Target="https://en.wikipedia.org/wiki/Spreadshe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 marR="5080" indent="-635" algn="ctr">
              <a:lnSpc>
                <a:spcPct val="100200"/>
              </a:lnSpc>
              <a:spcBef>
                <a:spcPts val="95"/>
              </a:spcBef>
            </a:pPr>
            <a:r>
              <a:rPr sz="4850" b="0" spc="375" dirty="0">
                <a:latin typeface="Palatino Linotype"/>
                <a:cs typeface="Palatino Linotype"/>
              </a:rPr>
              <a:t>SPREADSHEET, </a:t>
            </a:r>
            <a:r>
              <a:rPr sz="4850" b="0" spc="220" dirty="0">
                <a:latin typeface="Palatino Linotype"/>
                <a:cs typeface="Palatino Linotype"/>
              </a:rPr>
              <a:t>HIGHLIGHT</a:t>
            </a:r>
            <a:r>
              <a:rPr sz="4850" b="0" spc="254" dirty="0">
                <a:latin typeface="Palatino Linotype"/>
                <a:cs typeface="Palatino Linotype"/>
              </a:rPr>
              <a:t> </a:t>
            </a:r>
            <a:r>
              <a:rPr sz="4850" b="0" spc="265" dirty="0">
                <a:latin typeface="Palatino Linotype"/>
                <a:cs typeface="Palatino Linotype"/>
              </a:rPr>
              <a:t>AND</a:t>
            </a:r>
            <a:r>
              <a:rPr sz="4850" b="0" spc="270" dirty="0">
                <a:latin typeface="Palatino Linotype"/>
                <a:cs typeface="Palatino Linotype"/>
              </a:rPr>
              <a:t> </a:t>
            </a:r>
            <a:r>
              <a:rPr sz="4850" b="0" spc="330" dirty="0">
                <a:latin typeface="Palatino Linotype"/>
                <a:cs typeface="Palatino Linotype"/>
              </a:rPr>
              <a:t>HE</a:t>
            </a:r>
            <a:r>
              <a:rPr sz="4850" b="0" spc="-240" dirty="0">
                <a:latin typeface="Palatino Linotype"/>
                <a:cs typeface="Palatino Linotype"/>
              </a:rPr>
              <a:t>A</a:t>
            </a:r>
            <a:r>
              <a:rPr lang="en-IN" sz="4850" b="0" spc="330" dirty="0">
                <a:latin typeface="Palatino Linotype"/>
                <a:cs typeface="Palatino Linotype"/>
              </a:rPr>
              <a:t>P</a:t>
            </a:r>
            <a:r>
              <a:rPr sz="4850" b="0" spc="185" dirty="0">
                <a:latin typeface="Palatino Linotype"/>
                <a:cs typeface="Palatino Linotype"/>
              </a:rPr>
              <a:t> </a:t>
            </a:r>
            <a:r>
              <a:rPr sz="4850" b="0" spc="560" dirty="0">
                <a:latin typeface="Palatino Linotype"/>
                <a:cs typeface="Palatino Linotype"/>
              </a:rPr>
              <a:t>MAP</a:t>
            </a:r>
            <a:r>
              <a:rPr sz="4850" b="0" spc="254" dirty="0">
                <a:latin typeface="Palatino Linotype"/>
                <a:cs typeface="Palatino Linotype"/>
              </a:rPr>
              <a:t> </a:t>
            </a:r>
            <a:r>
              <a:rPr sz="4850" b="0" spc="360" dirty="0">
                <a:latin typeface="Palatino Linotype"/>
                <a:cs typeface="Palatino Linotype"/>
              </a:rPr>
              <a:t>TABLE</a:t>
            </a:r>
            <a:endParaRPr sz="485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SPREADSHEET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942" y="1093419"/>
            <a:ext cx="8072120" cy="3116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055" marR="267335" indent="-427990">
              <a:lnSpc>
                <a:spcPct val="130000"/>
              </a:lnSpc>
              <a:spcBef>
                <a:spcPts val="100"/>
              </a:spcBef>
              <a:buClr>
                <a:srgbClr val="666666"/>
              </a:buClr>
              <a:buFont typeface="Arial"/>
              <a:buChar char="●"/>
              <a:tabLst>
                <a:tab pos="440055" algn="l"/>
                <a:tab pos="440690" algn="l"/>
              </a:tabLst>
            </a:pP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</a:t>
            </a:r>
            <a:r>
              <a:rPr sz="2600" spc="-17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  <a:hlinkClick r:id="rId2"/>
              </a:rPr>
              <a:t>spreadsheet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is</a:t>
            </a:r>
            <a:r>
              <a:rPr sz="26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an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interactive</a:t>
            </a:r>
            <a:r>
              <a:rPr sz="26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computer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application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05192D"/>
                </a:solidFill>
                <a:latin typeface="Times New Roman"/>
                <a:cs typeface="Times New Roman"/>
              </a:rPr>
              <a:t>for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analysis</a:t>
            </a:r>
            <a:r>
              <a:rPr sz="2600" spc="-3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storage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of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tabular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form.</a:t>
            </a:r>
            <a:endParaRPr sz="2600">
              <a:latin typeface="Times New Roman"/>
              <a:cs typeface="Times New Roman"/>
            </a:endParaRPr>
          </a:p>
          <a:p>
            <a:pPr marL="440055" marR="5080" indent="-427990">
              <a:lnSpc>
                <a:spcPct val="130000"/>
              </a:lnSpc>
              <a:buClr>
                <a:srgbClr val="666666"/>
              </a:buClr>
              <a:buFont typeface="Arial"/>
              <a:buChar char="●"/>
              <a:tabLst>
                <a:tab pos="440055" algn="l"/>
                <a:tab pos="440690" algn="l"/>
              </a:tabLst>
            </a:pP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600" spc="-3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is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entered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cells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of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table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where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each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cell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spc="-25" dirty="0">
                <a:solidFill>
                  <a:srgbClr val="05192D"/>
                </a:solidFill>
                <a:latin typeface="Times New Roman"/>
                <a:cs typeface="Times New Roman"/>
              </a:rPr>
              <a:t>may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contain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either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numeric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or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text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data,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or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results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spc="-35" dirty="0">
                <a:solidFill>
                  <a:srgbClr val="05192D"/>
                </a:solidFill>
                <a:latin typeface="Times New Roman"/>
                <a:cs typeface="Times New Roman"/>
              </a:rPr>
              <a:t>of </a:t>
            </a:r>
            <a:r>
              <a:rPr sz="2600" dirty="0">
                <a:latin typeface="Times New Roman"/>
                <a:cs typeface="Times New Roman"/>
                <a:hlinkClick r:id="rId3"/>
              </a:rPr>
              <a:t>formulas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that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automatically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calculate</a:t>
            </a:r>
            <a:r>
              <a:rPr sz="26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display</a:t>
            </a:r>
            <a:r>
              <a:rPr sz="26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a</a:t>
            </a:r>
            <a:r>
              <a:rPr sz="26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value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based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on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contents</a:t>
            </a:r>
            <a:r>
              <a:rPr sz="26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of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5192D"/>
                </a:solidFill>
                <a:latin typeface="Times New Roman"/>
                <a:cs typeface="Times New Roman"/>
              </a:rPr>
              <a:t>other</a:t>
            </a:r>
            <a:r>
              <a:rPr sz="26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spc="-10" dirty="0">
                <a:solidFill>
                  <a:srgbClr val="05192D"/>
                </a:solidFill>
                <a:latin typeface="Times New Roman"/>
                <a:cs typeface="Times New Roman"/>
              </a:rPr>
              <a:t>cells.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CONNECTING</a:t>
            </a:r>
            <a:r>
              <a:rPr spc="-3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EXCEL</a:t>
            </a:r>
            <a:r>
              <a:rPr spc="-2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79863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first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step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is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connect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Excel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format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000" spc="-4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Tableau.</a:t>
            </a:r>
            <a:r>
              <a:rPr sz="2000" spc="-1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An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excel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file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is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1672539"/>
            <a:ext cx="25203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connected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form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6640" y="1695400"/>
            <a:ext cx="360045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.xls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67216" y="1672539"/>
            <a:ext cx="237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or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4867" y="1695400"/>
            <a:ext cx="487045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.xlsx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92394" y="1672539"/>
            <a:ext cx="5257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files.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7425" y="2292299"/>
            <a:ext cx="550545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Steps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9967" y="2866339"/>
            <a:ext cx="1415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94335" algn="l"/>
                <a:tab pos="394970" algn="l"/>
              </a:tabLst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Under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26264" y="2889199"/>
            <a:ext cx="846455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Connect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23194" y="2866339"/>
            <a:ext cx="9550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tab,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click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29901" y="2889199"/>
            <a:ext cx="578485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Excel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8672" y="2866339"/>
            <a:ext cx="344995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import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into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tableau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1925" y="3323539"/>
            <a:ext cx="11741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workspace.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9967" y="3780739"/>
            <a:ext cx="14154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8227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94335" algn="l"/>
                <a:tab pos="394970" algn="l"/>
              </a:tabLst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Under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6264" y="3803599"/>
            <a:ext cx="662940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Sheets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9959" y="3780739"/>
            <a:ext cx="5613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tab,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sheets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workbook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will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become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visible.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9967" y="4085540"/>
            <a:ext cx="7150734" cy="939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Choose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one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which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you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intend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analyze.</a:t>
            </a:r>
            <a:endParaRPr sz="2000">
              <a:latin typeface="Times New Roman"/>
              <a:cs typeface="Times New Roman"/>
            </a:endParaRPr>
          </a:p>
          <a:p>
            <a:pPr marL="394335" indent="-382270">
              <a:lnSpc>
                <a:spcPct val="100000"/>
              </a:lnSpc>
              <a:spcBef>
                <a:spcPts val="1200"/>
              </a:spcBef>
              <a:buFont typeface="Arial"/>
              <a:buChar char="●"/>
              <a:tabLst>
                <a:tab pos="394335" algn="l"/>
                <a:tab pos="394970" algn="l"/>
              </a:tabLst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Double</a:t>
            </a:r>
            <a:r>
              <a:rPr sz="2000" spc="-3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click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on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selected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sheet,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it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opens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like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spreadsheet.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/>
              <a:t>USING</a:t>
            </a:r>
            <a:r>
              <a:rPr sz="2300" spc="-25" dirty="0"/>
              <a:t> </a:t>
            </a:r>
            <a:r>
              <a:rPr sz="2300" dirty="0"/>
              <a:t>DATA</a:t>
            </a:r>
            <a:r>
              <a:rPr sz="2300" spc="-25" dirty="0"/>
              <a:t> </a:t>
            </a:r>
            <a:r>
              <a:rPr sz="2300" dirty="0"/>
              <a:t>INTERPRETER</a:t>
            </a:r>
            <a:r>
              <a:rPr sz="2300" spc="-25" dirty="0"/>
              <a:t> </a:t>
            </a:r>
            <a:r>
              <a:rPr sz="2300" dirty="0"/>
              <a:t>TO</a:t>
            </a:r>
            <a:r>
              <a:rPr sz="2300" spc="-25" dirty="0"/>
              <a:t> </a:t>
            </a:r>
            <a:r>
              <a:rPr sz="2300" dirty="0"/>
              <a:t>CLEAN</a:t>
            </a:r>
            <a:r>
              <a:rPr sz="2300" spc="-25" dirty="0"/>
              <a:t> </a:t>
            </a:r>
            <a:r>
              <a:rPr sz="2300" dirty="0"/>
              <a:t>THE</a:t>
            </a:r>
            <a:r>
              <a:rPr sz="2300" spc="-25" dirty="0"/>
              <a:t> </a:t>
            </a:r>
            <a:r>
              <a:rPr sz="2300" spc="-20" dirty="0"/>
              <a:t>DATA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384725" y="1169620"/>
            <a:ext cx="8360409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Though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entire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has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been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transported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into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5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Tableau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workspace,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it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 appears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that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not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correct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format.</a:t>
            </a:r>
            <a:r>
              <a:rPr sz="2000" spc="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00" b="1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5192D"/>
                </a:solidFill>
                <a:latin typeface="Times New Roman"/>
                <a:cs typeface="Times New Roman"/>
              </a:rPr>
              <a:t>Interpreter</a:t>
            </a:r>
            <a:r>
              <a:rPr sz="2000" b="1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here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help.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2027" y="2078939"/>
            <a:ext cx="1654810" cy="31242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80"/>
              </a:lnSpc>
            </a:pP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5192D"/>
                </a:solidFill>
                <a:latin typeface="Times New Roman"/>
                <a:cs typeface="Times New Roman"/>
              </a:rPr>
              <a:t>Interpreter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115" y="2008962"/>
            <a:ext cx="8106409" cy="744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5285" marR="5080" indent="-363220">
              <a:lnSpc>
                <a:spcPct val="114999"/>
              </a:lnSpc>
              <a:spcBef>
                <a:spcPts val="100"/>
              </a:spcBef>
              <a:buSzPct val="85365"/>
              <a:buFont typeface="Arial"/>
              <a:buChar char="●"/>
              <a:tabLst>
                <a:tab pos="375285" algn="l"/>
                <a:tab pos="375920" algn="l"/>
                <a:tab pos="5622290" algn="l"/>
              </a:tabLst>
            </a:pP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Under</a:t>
            </a:r>
            <a:r>
              <a:rPr sz="205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sheets</a:t>
            </a:r>
            <a:r>
              <a:rPr sz="205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tab,</a:t>
            </a:r>
            <a:r>
              <a:rPr sz="205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click</a:t>
            </a:r>
            <a:r>
              <a:rPr sz="205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on</a:t>
            </a:r>
            <a:r>
              <a:rPr sz="205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	option</a:t>
            </a:r>
            <a:r>
              <a:rPr sz="20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05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5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05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spc="-20" dirty="0">
                <a:solidFill>
                  <a:srgbClr val="05192D"/>
                </a:solidFill>
                <a:latin typeface="Times New Roman"/>
                <a:cs typeface="Times New Roman"/>
              </a:rPr>
              <a:t>gets </a:t>
            </a:r>
            <a:r>
              <a:rPr sz="2050" dirty="0">
                <a:solidFill>
                  <a:srgbClr val="05192D"/>
                </a:solidFill>
                <a:latin typeface="Times New Roman"/>
                <a:cs typeface="Times New Roman"/>
              </a:rPr>
              <a:t>formatted</a:t>
            </a:r>
            <a:r>
              <a:rPr sz="205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50" spc="-10" dirty="0">
                <a:solidFill>
                  <a:srgbClr val="05192D"/>
                </a:solidFill>
                <a:latin typeface="Times New Roman"/>
                <a:cs typeface="Times New Roman"/>
              </a:rPr>
              <a:t>nicely.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1474" y="2773883"/>
            <a:ext cx="6786880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100"/>
              </a:spcBef>
              <a:buSzPct val="86046"/>
              <a:buFont typeface="Arial"/>
              <a:buChar char="●"/>
              <a:tabLst>
                <a:tab pos="382905" algn="l"/>
                <a:tab pos="383540" algn="l"/>
              </a:tabLst>
            </a:pPr>
            <a:r>
              <a:rPr sz="2150" spc="-3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150" spc="-3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understand</a:t>
            </a:r>
            <a:r>
              <a:rPr sz="21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how</a:t>
            </a:r>
            <a:r>
              <a:rPr sz="215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15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formatting</a:t>
            </a:r>
            <a:r>
              <a:rPr sz="21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takes</a:t>
            </a:r>
            <a:r>
              <a:rPr sz="215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place,</a:t>
            </a:r>
            <a:r>
              <a:rPr sz="215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click</a:t>
            </a:r>
            <a:r>
              <a:rPr sz="21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on</a:t>
            </a:r>
            <a:r>
              <a:rPr sz="215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50" spc="-25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6138" y="2797505"/>
            <a:ext cx="1235710" cy="32766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5"/>
              </a:lnSpc>
            </a:pPr>
            <a:r>
              <a:rPr sz="2150" dirty="0">
                <a:solidFill>
                  <a:srgbClr val="05192D"/>
                </a:solidFill>
                <a:latin typeface="Times New Roman"/>
                <a:cs typeface="Times New Roman"/>
              </a:rPr>
              <a:t>Review</a:t>
            </a:r>
            <a:r>
              <a:rPr sz="2150" spc="-25" dirty="0">
                <a:solidFill>
                  <a:srgbClr val="05192D"/>
                </a:solidFill>
                <a:latin typeface="Times New Roman"/>
                <a:cs typeface="Times New Roman"/>
              </a:rPr>
              <a:t> the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4625" y="3174314"/>
            <a:ext cx="713105" cy="32766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95"/>
              </a:lnSpc>
            </a:pPr>
            <a:r>
              <a:rPr sz="2150" spc="-10" dirty="0">
                <a:solidFill>
                  <a:srgbClr val="05192D"/>
                </a:solidFill>
                <a:latin typeface="Times New Roman"/>
                <a:cs typeface="Times New Roman"/>
              </a:rPr>
              <a:t>results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22818" y="3150692"/>
            <a:ext cx="4273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0" dirty="0">
                <a:solidFill>
                  <a:srgbClr val="05192D"/>
                </a:solidFill>
                <a:latin typeface="Times New Roman"/>
                <a:cs typeface="Times New Roman"/>
              </a:rPr>
              <a:t>tab.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474" y="3526994"/>
            <a:ext cx="425958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 indent="-370840">
              <a:lnSpc>
                <a:spcPct val="100000"/>
              </a:lnSpc>
              <a:spcBef>
                <a:spcPts val="100"/>
              </a:spcBef>
              <a:buSzPct val="82222"/>
              <a:buFont typeface="Arial"/>
              <a:buChar char="●"/>
              <a:tabLst>
                <a:tab pos="382905" algn="l"/>
                <a:tab pos="383540" algn="l"/>
              </a:tabLst>
            </a:pPr>
            <a:r>
              <a:rPr sz="2250" b="1" dirty="0">
                <a:solidFill>
                  <a:srgbClr val="05192D"/>
                </a:solidFill>
                <a:latin typeface="Times New Roman"/>
                <a:cs typeface="Times New Roman"/>
              </a:rPr>
              <a:t>Connecting</a:t>
            </a:r>
            <a:r>
              <a:rPr sz="2250" b="1" spc="-3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250" b="1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250" b="1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250" b="1" dirty="0">
                <a:solidFill>
                  <a:srgbClr val="05192D"/>
                </a:solidFill>
                <a:latin typeface="Times New Roman"/>
                <a:cs typeface="Times New Roman"/>
              </a:rPr>
              <a:t>additional</a:t>
            </a:r>
            <a:r>
              <a:rPr sz="2250" b="1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250" b="1" spc="-10" dirty="0">
                <a:solidFill>
                  <a:srgbClr val="05192D"/>
                </a:solidFill>
                <a:latin typeface="Times New Roman"/>
                <a:cs typeface="Times New Roman"/>
              </a:rPr>
              <a:t>data: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1474" y="3941648"/>
            <a:ext cx="167640" cy="307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dirty="0">
                <a:solidFill>
                  <a:srgbClr val="05192D"/>
                </a:solidFill>
                <a:latin typeface="Arial"/>
                <a:cs typeface="Arial"/>
              </a:rPr>
              <a:t>●</a:t>
            </a:r>
            <a:endParaRPr sz="18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625" y="3945458"/>
            <a:ext cx="450215" cy="304800"/>
          </a:xfrm>
          <a:prstGeom prst="rect">
            <a:avLst/>
          </a:prstGeom>
          <a:solidFill>
            <a:srgbClr val="F6F3EB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spc="-25" dirty="0">
                <a:solidFill>
                  <a:srgbClr val="05192D"/>
                </a:solidFill>
                <a:latin typeface="Times New Roman"/>
                <a:cs typeface="Times New Roman"/>
              </a:rPr>
              <a:t>Add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2684" y="3922598"/>
            <a:ext cx="6958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next</a:t>
            </a:r>
            <a:r>
              <a:rPr sz="2000" spc="-3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Connections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selecting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another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excel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file.</a:t>
            </a:r>
            <a:r>
              <a:rPr sz="2000" spc="-1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All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files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1925" y="4273119"/>
            <a:ext cx="24409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now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appear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in</a:t>
            </a:r>
            <a:r>
              <a:rPr sz="2000" spc="-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5192D"/>
                </a:solidFill>
                <a:latin typeface="Times New Roman"/>
                <a:cs typeface="Times New Roman"/>
              </a:rPr>
              <a:t>the</a:t>
            </a:r>
            <a:r>
              <a:rPr sz="2000" spc="-1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5192D"/>
                </a:solidFill>
                <a:latin typeface="Times New Roman"/>
                <a:cs typeface="Times New Roman"/>
              </a:rPr>
              <a:t>view.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RESHAPING</a:t>
            </a:r>
            <a:r>
              <a:rPr spc="-5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5340"/>
            <a:ext cx="8365490" cy="280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PIVOT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TABLE</a:t>
            </a:r>
            <a:endParaRPr sz="2000">
              <a:latin typeface="Times New Roman"/>
              <a:cs typeface="Times New Roman"/>
            </a:endParaRPr>
          </a:p>
          <a:p>
            <a:pPr marL="469265" marR="5080" indent="-370205">
              <a:lnSpc>
                <a:spcPct val="114999"/>
              </a:lnSpc>
              <a:spcBef>
                <a:spcPts val="123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</a:t>
            </a:r>
            <a:r>
              <a:rPr sz="1850" spc="-13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Pivot</a:t>
            </a:r>
            <a:r>
              <a:rPr sz="1850" spc="-5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Table</a:t>
            </a:r>
            <a:r>
              <a:rPr sz="1850" spc="-3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is</a:t>
            </a:r>
            <a:r>
              <a:rPr sz="1850" spc="-2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used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to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summarise,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sort,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reorganise,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group,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count,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total</a:t>
            </a:r>
            <a:r>
              <a:rPr sz="1850" spc="-2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or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average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data</a:t>
            </a:r>
            <a:r>
              <a:rPr sz="1850" spc="-2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stored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in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table.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It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allows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us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to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transform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columns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into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rows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and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rows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into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columns.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It</a:t>
            </a:r>
            <a:r>
              <a:rPr sz="1850" spc="-1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allows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grouping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by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any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field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(column),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and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using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advanced</a:t>
            </a:r>
            <a:r>
              <a:rPr sz="1850" spc="-5" dirty="0">
                <a:solidFill>
                  <a:srgbClr val="253746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253746"/>
                </a:solidFill>
                <a:latin typeface="Times New Roman"/>
                <a:cs typeface="Times New Roman"/>
              </a:rPr>
              <a:t>calculations </a:t>
            </a:r>
            <a:r>
              <a:rPr sz="1850" dirty="0">
                <a:solidFill>
                  <a:srgbClr val="253746"/>
                </a:solidFill>
                <a:latin typeface="Times New Roman"/>
                <a:cs typeface="Times New Roman"/>
              </a:rPr>
              <a:t>on </a:t>
            </a:r>
            <a:r>
              <a:rPr sz="1850" spc="-20" dirty="0">
                <a:solidFill>
                  <a:srgbClr val="253746"/>
                </a:solidFill>
                <a:latin typeface="Times New Roman"/>
                <a:cs typeface="Times New Roman"/>
              </a:rPr>
              <a:t>them.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2050" b="1" spc="-10" dirty="0">
                <a:latin typeface="Times New Roman"/>
                <a:cs typeface="Times New Roman"/>
              </a:rPr>
              <a:t>SPLIT</a:t>
            </a:r>
            <a:endParaRPr sz="2050">
              <a:latin typeface="Times New Roman"/>
              <a:cs typeface="Times New Roman"/>
            </a:endParaRPr>
          </a:p>
          <a:p>
            <a:pPr marL="469265" indent="-385445">
              <a:lnSpc>
                <a:spcPct val="100000"/>
              </a:lnSpc>
              <a:spcBef>
                <a:spcPts val="1570"/>
              </a:spcBef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2050" b="1" dirty="0">
                <a:latin typeface="Times New Roman"/>
                <a:cs typeface="Times New Roman"/>
              </a:rPr>
              <a:t>Custom</a:t>
            </a:r>
            <a:r>
              <a:rPr sz="2050" b="1" spc="-30" dirty="0">
                <a:latin typeface="Times New Roman"/>
                <a:cs typeface="Times New Roman"/>
              </a:rPr>
              <a:t> </a:t>
            </a:r>
            <a:r>
              <a:rPr sz="2050" b="1" spc="-10" dirty="0">
                <a:latin typeface="Times New Roman"/>
                <a:cs typeface="Times New Roman"/>
              </a:rPr>
              <a:t>Split</a:t>
            </a:r>
            <a:endParaRPr sz="2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BLENDING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596" y="1164031"/>
            <a:ext cx="8051165" cy="287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9575" marR="5080" indent="-39751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409575" algn="l"/>
                <a:tab pos="410209" algn="l"/>
              </a:tabLst>
            </a:pPr>
            <a:r>
              <a:rPr sz="2200" dirty="0">
                <a:solidFill>
                  <a:srgbClr val="202124"/>
                </a:solidFill>
                <a:latin typeface="Times New Roman"/>
                <a:cs typeface="Times New Roman"/>
              </a:rPr>
              <a:t>Data</a:t>
            </a:r>
            <a:r>
              <a:rPr sz="2200" spc="-3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202124"/>
                </a:solidFill>
                <a:latin typeface="Times New Roman"/>
                <a:cs typeface="Times New Roman"/>
              </a:rPr>
              <a:t>blending</a:t>
            </a:r>
            <a:r>
              <a:rPr sz="2200" spc="-1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brings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in</a:t>
            </a:r>
            <a:r>
              <a:rPr sz="2200" b="1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additional</a:t>
            </a:r>
            <a:r>
              <a:rPr sz="2200" b="1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information</a:t>
            </a:r>
            <a:r>
              <a:rPr sz="2200" b="1" spc="-1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from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a</a:t>
            </a:r>
            <a:r>
              <a:rPr sz="2200" b="1" spc="-1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202124"/>
                </a:solidFill>
                <a:latin typeface="Times New Roman"/>
                <a:cs typeface="Times New Roman"/>
              </a:rPr>
              <a:t>secondary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data</a:t>
            </a:r>
            <a:r>
              <a:rPr sz="2200" b="1" spc="-3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source</a:t>
            </a:r>
            <a:r>
              <a:rPr sz="2200" b="1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and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displays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it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with</a:t>
            </a:r>
            <a:r>
              <a:rPr sz="2200" b="1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data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from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the</a:t>
            </a:r>
            <a:r>
              <a:rPr sz="2200" b="1" spc="-2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primary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 data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source</a:t>
            </a:r>
            <a:r>
              <a:rPr sz="2200" b="1" spc="-5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directly</a:t>
            </a:r>
            <a:r>
              <a:rPr sz="2200" b="1" spc="-4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in</a:t>
            </a:r>
            <a:r>
              <a:rPr sz="2200" b="1" spc="-40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202124"/>
                </a:solidFill>
                <a:latin typeface="Times New Roman"/>
                <a:cs typeface="Times New Roman"/>
              </a:rPr>
              <a:t>the</a:t>
            </a:r>
            <a:r>
              <a:rPr sz="2200" b="1" spc="-35" dirty="0">
                <a:solidFill>
                  <a:srgbClr val="202124"/>
                </a:solidFill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202124"/>
                </a:solidFill>
                <a:latin typeface="Times New Roman"/>
                <a:cs typeface="Times New Roman"/>
              </a:rPr>
              <a:t>view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●"/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600" b="1" dirty="0">
                <a:solidFill>
                  <a:srgbClr val="05192D"/>
                </a:solidFill>
                <a:latin typeface="Times New Roman"/>
                <a:cs typeface="Times New Roman"/>
              </a:rPr>
              <a:t>Exporting</a:t>
            </a:r>
            <a:r>
              <a:rPr sz="2600" b="1" spc="-6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5192D"/>
                </a:solidFill>
                <a:latin typeface="Times New Roman"/>
                <a:cs typeface="Times New Roman"/>
              </a:rPr>
              <a:t>crosstab</a:t>
            </a:r>
            <a:r>
              <a:rPr sz="2600" b="1" spc="-4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600" b="1" spc="-5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5192D"/>
                </a:solidFill>
                <a:latin typeface="Times New Roman"/>
                <a:cs typeface="Times New Roman"/>
              </a:rPr>
              <a:t>from</a:t>
            </a:r>
            <a:r>
              <a:rPr sz="2600" b="1" spc="-9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b="1" spc="-20" dirty="0">
                <a:solidFill>
                  <a:srgbClr val="05192D"/>
                </a:solidFill>
                <a:latin typeface="Times New Roman"/>
                <a:cs typeface="Times New Roman"/>
              </a:rPr>
              <a:t>Tableau</a:t>
            </a:r>
            <a:r>
              <a:rPr sz="2600" b="1" spc="-4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600" b="1" spc="-4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5192D"/>
                </a:solidFill>
                <a:latin typeface="Times New Roman"/>
                <a:cs typeface="Times New Roman"/>
              </a:rPr>
              <a:t>Excel</a:t>
            </a:r>
            <a:endParaRPr sz="2600">
              <a:latin typeface="Times New Roman"/>
              <a:cs typeface="Times New Roman"/>
            </a:endParaRPr>
          </a:p>
          <a:p>
            <a:pPr marL="409575" marR="130810" indent="-389890">
              <a:lnSpc>
                <a:spcPct val="120000"/>
              </a:lnSpc>
              <a:spcBef>
                <a:spcPts val="1939"/>
              </a:spcBef>
              <a:buClr>
                <a:srgbClr val="05192D"/>
              </a:buClr>
              <a:buFont typeface="Arial"/>
              <a:buChar char="●"/>
              <a:tabLst>
                <a:tab pos="476250" algn="l"/>
                <a:tab pos="476884" algn="l"/>
              </a:tabLst>
            </a:pPr>
            <a:r>
              <a:rPr dirty="0"/>
              <a:t>	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Feature</a:t>
            </a:r>
            <a:r>
              <a:rPr sz="2100" spc="-3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of</a:t>
            </a:r>
            <a:r>
              <a:rPr sz="2100" spc="-5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5192D"/>
                </a:solidFill>
                <a:latin typeface="Times New Roman"/>
                <a:cs typeface="Times New Roman"/>
              </a:rPr>
              <a:t>Tableau</a:t>
            </a:r>
            <a:r>
              <a:rPr sz="21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which</a:t>
            </a:r>
            <a:r>
              <a:rPr sz="21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allows</a:t>
            </a:r>
            <a:r>
              <a:rPr sz="21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us</a:t>
            </a:r>
            <a:r>
              <a:rPr sz="21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1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copy</a:t>
            </a:r>
            <a:r>
              <a:rPr sz="21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1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paste</a:t>
            </a:r>
            <a:r>
              <a:rPr sz="21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data</a:t>
            </a:r>
            <a:r>
              <a:rPr sz="21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very</a:t>
            </a:r>
            <a:r>
              <a:rPr sz="2100" spc="-1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5192D"/>
                </a:solidFill>
                <a:latin typeface="Times New Roman"/>
                <a:cs typeface="Times New Roman"/>
              </a:rPr>
              <a:t>easily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from</a:t>
            </a:r>
            <a:r>
              <a:rPr sz="2100" spc="-7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5192D"/>
                </a:solidFill>
                <a:latin typeface="Times New Roman"/>
                <a:cs typeface="Times New Roman"/>
              </a:rPr>
              <a:t>Tableau</a:t>
            </a:r>
            <a:r>
              <a:rPr sz="2100" spc="-20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to</a:t>
            </a:r>
            <a:r>
              <a:rPr sz="21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Excel</a:t>
            </a:r>
            <a:r>
              <a:rPr sz="21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and</a:t>
            </a:r>
            <a:r>
              <a:rPr sz="21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5192D"/>
                </a:solidFill>
                <a:latin typeface="Times New Roman"/>
                <a:cs typeface="Times New Roman"/>
              </a:rPr>
              <a:t>vice</a:t>
            </a:r>
            <a:r>
              <a:rPr sz="2100" spc="-25" dirty="0">
                <a:solidFill>
                  <a:srgbClr val="05192D"/>
                </a:solidFill>
                <a:latin typeface="Times New Roman"/>
                <a:cs typeface="Times New Roman"/>
              </a:rPr>
              <a:t> </a:t>
            </a:r>
            <a:r>
              <a:rPr sz="2100" spc="-10" dirty="0">
                <a:solidFill>
                  <a:srgbClr val="05192D"/>
                </a:solidFill>
                <a:latin typeface="Times New Roman"/>
                <a:cs typeface="Times New Roman"/>
              </a:rPr>
              <a:t>versa.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HIGHLIGHT</a:t>
            </a:r>
            <a:r>
              <a:rPr spc="-55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583" y="1147268"/>
            <a:ext cx="7847330" cy="293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2434" marR="5080" indent="-405130">
              <a:lnSpc>
                <a:spcPct val="114999"/>
              </a:lnSpc>
              <a:spcBef>
                <a:spcPts val="100"/>
              </a:spcBef>
              <a:buSzPct val="82142"/>
              <a:buChar char="●"/>
              <a:tabLst>
                <a:tab pos="432434" algn="l"/>
                <a:tab pos="433070" algn="l"/>
              </a:tabLst>
            </a:pPr>
            <a:r>
              <a:rPr sz="2800" dirty="0">
                <a:solidFill>
                  <a:srgbClr val="202124"/>
                </a:solidFill>
                <a:latin typeface="Arial"/>
                <a:cs typeface="Arial"/>
              </a:rPr>
              <a:t>In</a:t>
            </a:r>
            <a:r>
              <a:rPr sz="2800" spc="-8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202124"/>
                </a:solidFill>
                <a:latin typeface="Arial"/>
                <a:cs typeface="Arial"/>
              </a:rPr>
              <a:t>Tableau,</a:t>
            </a:r>
            <a:r>
              <a:rPr sz="2800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124"/>
                </a:solidFill>
                <a:latin typeface="Arial"/>
                <a:cs typeface="Arial"/>
              </a:rPr>
              <a:t>you</a:t>
            </a:r>
            <a:r>
              <a:rPr sz="2800" spc="-4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124"/>
                </a:solidFill>
                <a:latin typeface="Arial"/>
                <a:cs typeface="Arial"/>
              </a:rPr>
              <a:t>create</a:t>
            </a:r>
            <a:r>
              <a:rPr sz="2800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124"/>
                </a:solidFill>
                <a:latin typeface="Arial"/>
                <a:cs typeface="Arial"/>
              </a:rPr>
              <a:t>a</a:t>
            </a:r>
            <a:r>
              <a:rPr sz="2800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124"/>
                </a:solidFill>
                <a:latin typeface="Arial"/>
                <a:cs typeface="Arial"/>
              </a:rPr>
              <a:t>highlight</a:t>
            </a:r>
            <a:r>
              <a:rPr sz="2800" spc="-3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02124"/>
                </a:solidFill>
                <a:latin typeface="Arial"/>
                <a:cs typeface="Arial"/>
              </a:rPr>
              <a:t>table</a:t>
            </a:r>
            <a:r>
              <a:rPr sz="2800" spc="-35" dirty="0">
                <a:solidFill>
                  <a:srgbClr val="202124"/>
                </a:solidFill>
                <a:latin typeface="Arial"/>
                <a:cs typeface="Arial"/>
              </a:rPr>
              <a:t> by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placing</a:t>
            </a:r>
            <a:r>
              <a:rPr sz="2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one</a:t>
            </a:r>
            <a:r>
              <a:rPr sz="2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or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more</a:t>
            </a:r>
            <a:r>
              <a:rPr sz="2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dimensions</a:t>
            </a:r>
            <a:r>
              <a:rPr sz="28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on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202124"/>
                </a:solidFill>
                <a:latin typeface="Arial"/>
                <a:cs typeface="Arial"/>
              </a:rPr>
              <a:t>the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Columns</a:t>
            </a:r>
            <a:r>
              <a:rPr sz="28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shelf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and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one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or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more</a:t>
            </a:r>
            <a:r>
              <a:rPr sz="2800" b="1" spc="-2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02124"/>
                </a:solidFill>
                <a:latin typeface="Arial"/>
                <a:cs typeface="Arial"/>
              </a:rPr>
              <a:t>dimensions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on</a:t>
            </a:r>
            <a:r>
              <a:rPr sz="2800" b="1" spc="-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the</a:t>
            </a:r>
            <a:r>
              <a:rPr sz="2800" b="1" spc="-1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02124"/>
                </a:solidFill>
                <a:latin typeface="Arial"/>
                <a:cs typeface="Arial"/>
              </a:rPr>
              <a:t>Rows</a:t>
            </a:r>
            <a:r>
              <a:rPr sz="2800" b="1" spc="-10" dirty="0">
                <a:solidFill>
                  <a:srgbClr val="202124"/>
                </a:solidFill>
                <a:latin typeface="Arial"/>
                <a:cs typeface="Arial"/>
              </a:rPr>
              <a:t> shelf</a:t>
            </a:r>
            <a:r>
              <a:rPr sz="2800" spc="-10" dirty="0">
                <a:solidFill>
                  <a:srgbClr val="202124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432434" marR="739775" indent="-420370">
              <a:lnSpc>
                <a:spcPct val="114999"/>
              </a:lnSpc>
              <a:spcBef>
                <a:spcPts val="20"/>
              </a:spcBef>
              <a:buClr>
                <a:srgbClr val="202124"/>
              </a:buClr>
              <a:buSzPct val="92592"/>
              <a:buFont typeface="Arial"/>
              <a:buChar char="●"/>
              <a:tabLst>
                <a:tab pos="527685" algn="l"/>
                <a:tab pos="528320" algn="l"/>
              </a:tabLst>
            </a:pPr>
            <a:r>
              <a:rPr dirty="0"/>
              <a:t>	</a:t>
            </a:r>
            <a:r>
              <a:rPr sz="2700" dirty="0">
                <a:solidFill>
                  <a:srgbClr val="202124"/>
                </a:solidFill>
                <a:latin typeface="Arial"/>
                <a:cs typeface="Arial"/>
              </a:rPr>
              <a:t>Highlight</a:t>
            </a:r>
            <a:r>
              <a:rPr sz="2700" spc="-4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dirty="0">
                <a:solidFill>
                  <a:srgbClr val="202124"/>
                </a:solidFill>
                <a:latin typeface="Arial"/>
                <a:cs typeface="Arial"/>
              </a:rPr>
              <a:t>tables</a:t>
            </a:r>
            <a:r>
              <a:rPr sz="2700" spc="-1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202124"/>
                </a:solidFill>
                <a:latin typeface="Arial"/>
                <a:cs typeface="Arial"/>
              </a:rPr>
              <a:t>enhance</a:t>
            </a:r>
            <a:r>
              <a:rPr sz="27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202124"/>
                </a:solidFill>
                <a:latin typeface="Arial"/>
                <a:cs typeface="Arial"/>
              </a:rPr>
              <a:t>text</a:t>
            </a:r>
            <a:r>
              <a:rPr sz="27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202124"/>
                </a:solidFill>
                <a:latin typeface="Arial"/>
                <a:cs typeface="Arial"/>
              </a:rPr>
              <a:t>tables</a:t>
            </a:r>
            <a:r>
              <a:rPr sz="27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202124"/>
                </a:solidFill>
                <a:latin typeface="Arial"/>
                <a:cs typeface="Arial"/>
              </a:rPr>
              <a:t>while </a:t>
            </a:r>
            <a:r>
              <a:rPr sz="2700" b="1" dirty="0">
                <a:solidFill>
                  <a:srgbClr val="202124"/>
                </a:solidFill>
                <a:latin typeface="Arial"/>
                <a:cs typeface="Arial"/>
              </a:rPr>
              <a:t>keeping</a:t>
            </a:r>
            <a:r>
              <a:rPr sz="2700" b="1" spc="-30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202124"/>
                </a:solidFill>
                <a:latin typeface="Arial"/>
                <a:cs typeface="Arial"/>
              </a:rPr>
              <a:t>their</a:t>
            </a:r>
            <a:r>
              <a:rPr sz="2700" b="1" spc="-25" dirty="0">
                <a:solidFill>
                  <a:srgbClr val="202124"/>
                </a:solidFill>
                <a:latin typeface="Arial"/>
                <a:cs typeface="Arial"/>
              </a:rPr>
              <a:t> </a:t>
            </a:r>
            <a:r>
              <a:rPr sz="2700" b="1" spc="-20" dirty="0">
                <a:solidFill>
                  <a:srgbClr val="202124"/>
                </a:solidFill>
                <a:latin typeface="Arial"/>
                <a:cs typeface="Arial"/>
              </a:rPr>
              <a:t>form</a:t>
            </a:r>
            <a:r>
              <a:rPr sz="2700" spc="-20" dirty="0">
                <a:solidFill>
                  <a:srgbClr val="202124"/>
                </a:solidFill>
                <a:latin typeface="Arial"/>
                <a:cs typeface="Arial"/>
              </a:rPr>
              <a:t>.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FEF64A-1CD7-8DD9-D4BD-3E068293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9" y="221553"/>
            <a:ext cx="7886700" cy="13319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as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as sub-category and month of order 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of the mark card as sum(sales)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536B50D-3D1B-A0A5-D567-52CAE1BD4F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50" r="4273" b="23674"/>
          <a:stretch/>
        </p:blipFill>
        <p:spPr>
          <a:xfrm>
            <a:off x="195360" y="1553548"/>
            <a:ext cx="8753281" cy="344999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6372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E8E3FC6-27F6-A062-139B-BF208AE2D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09" y="263541"/>
            <a:ext cx="8363728" cy="69518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Dragging the sales measure from the measure list to the color marks card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66C0DF0-A84A-1C8B-29DE-9F8DCC974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536" t="8707" r="1" b="29660"/>
          <a:stretch/>
        </p:blipFill>
        <p:spPr>
          <a:xfrm>
            <a:off x="-48986" y="986712"/>
            <a:ext cx="9192986" cy="3170077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C6535AF-0CE7-8CE1-3E7D-C39E2617D9E3}"/>
                  </a:ext>
                </a:extLst>
              </p14:cNvPr>
              <p14:cNvContentPartPr/>
              <p14:nvPr/>
            </p14:nvContentPartPr>
            <p14:xfrm>
              <a:off x="1733400" y="3606840"/>
              <a:ext cx="1194480" cy="349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C6535AF-0CE7-8CE1-3E7D-C39E2617D9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3030" y="2698110"/>
                <a:ext cx="909900" cy="2762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52599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8018BB-92B9-D30E-4E36-E84B6515B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746" y="305529"/>
            <a:ext cx="7886700" cy="326350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highlight table by changing the mark type (automatic to square)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EE2DFF4-10AD-8B22-8872-FB5F6765ED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31" b="16870"/>
          <a:stretch/>
        </p:blipFill>
        <p:spPr>
          <a:xfrm>
            <a:off x="-55984" y="1163969"/>
            <a:ext cx="9144000" cy="3764976"/>
          </a:xfrm>
          <a:prstGeom prst="rect">
            <a:avLst/>
          </a:prstGeo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0163182-E41F-02C1-EB8C-C9542790222C}"/>
                  </a:ext>
                </a:extLst>
              </p14:cNvPr>
              <p14:cNvContentPartPr/>
              <p14:nvPr/>
            </p14:nvContentPartPr>
            <p14:xfrm>
              <a:off x="1701720" y="2838600"/>
              <a:ext cx="819720" cy="374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10163182-E41F-02C1-EB8C-C954279022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9270" y="2121930"/>
                <a:ext cx="628830" cy="2951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06279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HEA</a:t>
            </a:r>
            <a:r>
              <a:rPr lang="en-IN" dirty="0"/>
              <a:t>P</a:t>
            </a:r>
            <a:r>
              <a:rPr spc="-30" dirty="0"/>
              <a:t> </a:t>
            </a:r>
            <a:r>
              <a:rPr dirty="0"/>
              <a:t>MAP</a:t>
            </a:r>
            <a:r>
              <a:rPr spc="-15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13942" y="1152855"/>
            <a:ext cx="8340090" cy="2736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055" marR="5715" indent="-427990" algn="just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440690" algn="l"/>
              </a:tabLst>
            </a:pPr>
            <a:r>
              <a:rPr dirty="0"/>
              <a:t>The</a:t>
            </a:r>
            <a:r>
              <a:rPr spc="295" dirty="0"/>
              <a:t> </a:t>
            </a:r>
            <a:r>
              <a:rPr dirty="0" err="1"/>
              <a:t>hea</a:t>
            </a:r>
            <a:r>
              <a:rPr lang="en-IN" dirty="0"/>
              <a:t>p</a:t>
            </a:r>
            <a:r>
              <a:rPr spc="305" dirty="0"/>
              <a:t> </a:t>
            </a:r>
            <a:r>
              <a:rPr dirty="0"/>
              <a:t>map</a:t>
            </a:r>
            <a:r>
              <a:rPr spc="310" dirty="0"/>
              <a:t> </a:t>
            </a:r>
            <a:r>
              <a:rPr dirty="0"/>
              <a:t>is</a:t>
            </a:r>
            <a:r>
              <a:rPr spc="305" dirty="0"/>
              <a:t> </a:t>
            </a:r>
            <a:r>
              <a:rPr dirty="0"/>
              <a:t>used</a:t>
            </a:r>
            <a:r>
              <a:rPr spc="305" dirty="0"/>
              <a:t> </a:t>
            </a:r>
            <a:r>
              <a:rPr dirty="0"/>
              <a:t>to</a:t>
            </a:r>
            <a:r>
              <a:rPr spc="310" dirty="0"/>
              <a:t> </a:t>
            </a:r>
            <a:r>
              <a:rPr dirty="0"/>
              <a:t>visualize</a:t>
            </a:r>
            <a:r>
              <a:rPr spc="305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dirty="0"/>
              <a:t>data</a:t>
            </a:r>
            <a:r>
              <a:rPr spc="310" dirty="0"/>
              <a:t> </a:t>
            </a:r>
            <a:r>
              <a:rPr dirty="0"/>
              <a:t>in</a:t>
            </a:r>
            <a:r>
              <a:rPr spc="305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dirty="0"/>
              <a:t>form</a:t>
            </a:r>
            <a:r>
              <a:rPr spc="310" dirty="0"/>
              <a:t> </a:t>
            </a:r>
            <a:r>
              <a:rPr spc="-25" dirty="0"/>
              <a:t>of </a:t>
            </a:r>
            <a:r>
              <a:rPr dirty="0"/>
              <a:t>size</a:t>
            </a:r>
            <a:r>
              <a:rPr spc="-3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color</a:t>
            </a:r>
            <a:r>
              <a:rPr spc="-20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different</a:t>
            </a:r>
            <a:r>
              <a:rPr spc="-20" dirty="0"/>
              <a:t> </a:t>
            </a:r>
            <a:r>
              <a:rPr spc="-10" dirty="0"/>
              <a:t>measures.</a:t>
            </a:r>
          </a:p>
          <a:p>
            <a:pPr marL="440055" marR="5080" indent="-427990" algn="just">
              <a:lnSpc>
                <a:spcPct val="114999"/>
              </a:lnSpc>
              <a:buFont typeface="Arial"/>
              <a:buChar char="●"/>
              <a:tabLst>
                <a:tab pos="440690" algn="l"/>
              </a:tabLst>
            </a:pPr>
            <a:r>
              <a:rPr b="1" dirty="0">
                <a:latin typeface="Times New Roman"/>
                <a:cs typeface="Times New Roman"/>
              </a:rPr>
              <a:t>Two</a:t>
            </a:r>
            <a:r>
              <a:rPr b="1" spc="4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different</a:t>
            </a:r>
            <a:r>
              <a:rPr b="1" spc="4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measures</a:t>
            </a:r>
            <a:r>
              <a:rPr b="1" spc="4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are</a:t>
            </a:r>
            <a:r>
              <a:rPr b="1" spc="45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visualized</a:t>
            </a:r>
            <a:r>
              <a:rPr b="1" spc="45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simultaneously </a:t>
            </a:r>
            <a:r>
              <a:rPr dirty="0"/>
              <a:t>using</a:t>
            </a:r>
            <a:r>
              <a:rPr spc="20" dirty="0"/>
              <a:t> </a:t>
            </a:r>
            <a:r>
              <a:rPr dirty="0"/>
              <a:t>a</a:t>
            </a:r>
            <a:r>
              <a:rPr spc="35" dirty="0"/>
              <a:t> </a:t>
            </a:r>
            <a:r>
              <a:rPr dirty="0" err="1"/>
              <a:t>hea</a:t>
            </a:r>
            <a:r>
              <a:rPr lang="en-IN" dirty="0"/>
              <a:t>p</a:t>
            </a:r>
            <a:r>
              <a:rPr spc="30" dirty="0"/>
              <a:t> </a:t>
            </a:r>
            <a:r>
              <a:rPr dirty="0"/>
              <a:t>map.</a:t>
            </a:r>
            <a:r>
              <a:rPr spc="35" dirty="0"/>
              <a:t> </a:t>
            </a:r>
            <a:r>
              <a:rPr dirty="0"/>
              <a:t>One</a:t>
            </a:r>
            <a:r>
              <a:rPr spc="35" dirty="0"/>
              <a:t> </a:t>
            </a:r>
            <a:r>
              <a:rPr dirty="0"/>
              <a:t>measure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assigned</a:t>
            </a:r>
            <a:r>
              <a:rPr spc="30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dirty="0"/>
              <a:t>size,</a:t>
            </a:r>
            <a:r>
              <a:rPr spc="35" dirty="0"/>
              <a:t> </a:t>
            </a:r>
            <a:r>
              <a:rPr spc="-10" dirty="0"/>
              <a:t>whereas </a:t>
            </a:r>
            <a:r>
              <a:rPr dirty="0"/>
              <a:t>another</a:t>
            </a:r>
            <a:r>
              <a:rPr spc="-25" dirty="0"/>
              <a:t> </a:t>
            </a:r>
            <a:r>
              <a:rPr dirty="0"/>
              <a:t>measure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attached</a:t>
            </a:r>
            <a:r>
              <a:rPr spc="-1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color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 err="1"/>
              <a:t>hea</a:t>
            </a:r>
            <a:r>
              <a:rPr lang="en-IN" dirty="0"/>
              <a:t>p</a:t>
            </a:r>
            <a:r>
              <a:rPr spc="-15" dirty="0"/>
              <a:t> </a:t>
            </a:r>
            <a:r>
              <a:rPr spc="-20" dirty="0"/>
              <a:t>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FEF64A-1CD7-8DD9-D4BD-3E068293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719" y="221553"/>
            <a:ext cx="7886700" cy="13319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as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 as sub-category and month of order 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of the mark card as sum(sales)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536B50D-3D1B-A0A5-D567-52CAE1BD4F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50" r="4273" b="23674"/>
          <a:stretch/>
        </p:blipFill>
        <p:spPr>
          <a:xfrm>
            <a:off x="195360" y="1553548"/>
            <a:ext cx="8753281" cy="344999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96372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F05FAD-E6EE-A10C-5B06-F4183DFC1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731" y="242547"/>
            <a:ext cx="7886700" cy="1200329"/>
          </a:xfrm>
        </p:spPr>
        <p:txBody>
          <a:bodyPr/>
          <a:lstStyle/>
          <a:p>
            <a:r>
              <a:rPr lang="en-US" dirty="0"/>
              <a:t>Put the month of Order Date dimension on the Column Shelf.</a:t>
            </a:r>
          </a:p>
          <a:p>
            <a:r>
              <a:rPr lang="en-US" dirty="0"/>
              <a:t>Put the sub-category  dimension on the row shelf.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="" xmlns:a16="http://schemas.microsoft.com/office/drawing/2014/main" id="{1DBE2C92-09E6-10CE-2C2D-2D1B4E9B9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17" t="8864" r="-136" b="25520"/>
          <a:stretch/>
        </p:blipFill>
        <p:spPr>
          <a:xfrm>
            <a:off x="0" y="1220099"/>
            <a:ext cx="9113998" cy="335202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7639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8F6BD9-3261-C2E1-1636-B7476247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734" y="147881"/>
            <a:ext cx="7886700" cy="915809"/>
          </a:xfrm>
        </p:spPr>
        <p:txBody>
          <a:bodyPr>
            <a:normAutofit/>
          </a:bodyPr>
          <a:lstStyle/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prefer heap map to be created with circles , so change the mark type (automatic to circle)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="" xmlns:a16="http://schemas.microsoft.com/office/drawing/2014/main" id="{70672BB4-A393-8DD6-7CB5-63BF85167B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671108" y="1369219"/>
            <a:ext cx="5801784" cy="3263504"/>
          </a:xfr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674A40A-3C20-9619-2004-C59928A90933}"/>
                  </a:ext>
                </a:extLst>
              </p14:cNvPr>
              <p14:cNvContentPartPr/>
              <p14:nvPr/>
            </p14:nvContentPartPr>
            <p14:xfrm>
              <a:off x="1695600" y="2832120"/>
              <a:ext cx="1263960" cy="28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674A40A-3C20-9619-2004-C59928A909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680" y="2117070"/>
                <a:ext cx="962010" cy="2286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414603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24E4B3-ED0E-75D7-E7B5-0B58CE92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measure on the color of mark card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B2488E3E-EE2A-DAAB-189D-50A991FB4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671108" y="1369219"/>
            <a:ext cx="5801784" cy="3263504"/>
          </a:xfr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97B0315-19DA-D56E-2DCD-EDE0975CD55F}"/>
                  </a:ext>
                </a:extLst>
              </p14:cNvPr>
              <p14:cNvContentPartPr/>
              <p14:nvPr/>
            </p14:nvContentPartPr>
            <p14:xfrm>
              <a:off x="2273400" y="3606840"/>
              <a:ext cx="1041480" cy="349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897B0315-19DA-D56E-2DCD-EDE0975CD5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8030" y="2698110"/>
                <a:ext cx="795150" cy="2762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193003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963CEB-9886-E50E-4F1F-5B3625EC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428625" indent="-428625">
              <a:buFont typeface="Wingdings" panose="05000000000000000000" pitchFamily="2" charset="2"/>
              <a:buChar char="Ø"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measure on the size of mark card and change the size of circle.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52D63257-D4CB-C54D-B316-154BAD6A7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1" t="8864" r="346" b="11796"/>
          <a:stretch/>
        </p:blipFill>
        <p:spPr>
          <a:xfrm>
            <a:off x="83975" y="1102128"/>
            <a:ext cx="8836766" cy="3957397"/>
          </a:xfrm>
        </p:spPr>
      </p:pic>
      <mc:AlternateContent xmlns:mc="http://schemas.openxmlformats.org/markup-compatibility/2006">
        <mc:Choice xmlns="" xmlns:p14="http://schemas.microsoft.com/office/powerpoint/2010/main" Requires="p14">
          <p:contentPart p14:bwMode="auto" r:id="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F69DD67-A483-04E3-C0DC-5ED09400D9B3}"/>
                  </a:ext>
                </a:extLst>
              </p14:cNvPr>
              <p14:cNvContentPartPr/>
              <p14:nvPr/>
            </p14:nvContentPartPr>
            <p14:xfrm>
              <a:off x="1790640" y="3911760"/>
              <a:ext cx="1067040" cy="35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p14="http://schemas.microsoft.com/office/powerpoint/2010/main" xmlns="" xmlns:a16="http://schemas.microsoft.com/office/drawing/2014/main" id="{BF69DD67-A483-04E3-C0DC-5ED09400D9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5960" y="2926800"/>
                <a:ext cx="814320" cy="2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="" xmlns:p14="http://schemas.microsoft.com/office/powerpoint/2010/main" val="368955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3125B4-2676-BF04-F2D5-F20449869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6" y="511774"/>
            <a:ext cx="1400758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Show me</a:t>
            </a:r>
            <a:br>
              <a:rPr lang="en-US" dirty="0"/>
            </a:br>
            <a:r>
              <a:rPr lang="en-US" dirty="0"/>
              <a:t>option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4B833AE7-FEB7-6F64-F16A-6F50CDA91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85421" t="4362" b="29526"/>
          <a:stretch/>
        </p:blipFill>
        <p:spPr>
          <a:xfrm>
            <a:off x="1573376" y="161876"/>
            <a:ext cx="3295110" cy="4365804"/>
          </a:xfr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5D897F6-4D5A-9C01-FD12-86652DEFB6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85791" t="5033" b="30069"/>
          <a:stretch/>
        </p:blipFill>
        <p:spPr>
          <a:xfrm>
            <a:off x="5220478" y="280843"/>
            <a:ext cx="3638939" cy="436580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59054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562</Words>
  <Application>Microsoft Office PowerPoint</Application>
  <PresentationFormat>On-screen Show (16:9)</PresentationFormat>
  <Paragraphs>66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SPREADSHEET, HIGHLIGHT AND HEAP MAP TABLE</vt:lpstr>
      <vt:lpstr>SPREADSHEET</vt:lpstr>
      <vt:lpstr>CONNECTING TO EXCEL DATA</vt:lpstr>
      <vt:lpstr>USING DATA INTERPRETER TO CLEAN THE DATA</vt:lpstr>
      <vt:lpstr>RESHAPING DATA</vt:lpstr>
      <vt:lpstr>DATA BLENDING</vt:lpstr>
      <vt:lpstr>HIGHLIGHT TABLE</vt:lpstr>
      <vt:lpstr>Slide 8</vt:lpstr>
      <vt:lpstr>Slide 9</vt:lpstr>
      <vt:lpstr>Slide 10</vt:lpstr>
      <vt:lpstr>HEAP MAP TABLE</vt:lpstr>
      <vt:lpstr>Slide 12</vt:lpstr>
      <vt:lpstr>Slide 13</vt:lpstr>
      <vt:lpstr>To prefer heap map to be created with circles , so change the mark type (automatic to circle)</vt:lpstr>
      <vt:lpstr>The sales measure on the color of mark card</vt:lpstr>
      <vt:lpstr>The sales measure on the size of mark card and change the size of circle.</vt:lpstr>
      <vt:lpstr>Show me option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Seminar-DVWT</dc:title>
  <dc:creator>Swathika</dc:creator>
  <cp:lastModifiedBy>AI&amp;DS</cp:lastModifiedBy>
  <cp:revision>3</cp:revision>
  <dcterms:created xsi:type="dcterms:W3CDTF">2023-02-12T08:37:29Z</dcterms:created>
  <dcterms:modified xsi:type="dcterms:W3CDTF">2023-03-08T05:06:22Z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