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7" r:id="rId6"/>
    <p:sldId id="268" r:id="rId7"/>
    <p:sldId id="259" r:id="rId8"/>
    <p:sldId id="261" r:id="rId9"/>
    <p:sldId id="262" r:id="rId10"/>
    <p:sldId id="263" r:id="rId11"/>
    <p:sldId id="264" r:id="rId12"/>
    <p:sldId id="265" r:id="rId13"/>
    <p:sldId id="26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1" d="100"/>
          <a:sy n="81" d="100"/>
        </p:scale>
        <p:origin x="-156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F53616A-FAA4-4869-B2C2-65AC1B203CA0}" type="datetimeFigureOut">
              <a:rPr lang="en-US" smtClean="0"/>
              <a:pPr/>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E451F-E304-4366-A9A6-D6FD3FFFC14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53616A-FAA4-4869-B2C2-65AC1B203CA0}" type="datetimeFigureOut">
              <a:rPr lang="en-US" smtClean="0"/>
              <a:pPr/>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E451F-E304-4366-A9A6-D6FD3FFFC14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F53616A-FAA4-4869-B2C2-65AC1B203CA0}" type="datetimeFigureOut">
              <a:rPr lang="en-US" smtClean="0"/>
              <a:pPr/>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E451F-E304-4366-A9A6-D6FD3FFFC14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F53616A-FAA4-4869-B2C2-65AC1B203CA0}" type="datetimeFigureOut">
              <a:rPr lang="en-US" smtClean="0"/>
              <a:pPr/>
              <a:t>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0E451F-E304-4366-A9A6-D6FD3FFFC14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F53616A-FAA4-4869-B2C2-65AC1B203CA0}" type="datetimeFigureOut">
              <a:rPr lang="en-US" smtClean="0"/>
              <a:pPr/>
              <a:t>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0E451F-E304-4366-A9A6-D6FD3FFFC14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F53616A-FAA4-4869-B2C2-65AC1B203CA0}" type="datetimeFigureOut">
              <a:rPr lang="en-US" smtClean="0"/>
              <a:pPr/>
              <a:t>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0E451F-E304-4366-A9A6-D6FD3FFFC14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53616A-FAA4-4869-B2C2-65AC1B203CA0}" type="datetimeFigureOut">
              <a:rPr lang="en-US" smtClean="0"/>
              <a:pPr/>
              <a:t>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0E451F-E304-4366-A9A6-D6FD3FFFC14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53616A-FAA4-4869-B2C2-65AC1B203CA0}" type="datetimeFigureOut">
              <a:rPr lang="en-US" smtClean="0"/>
              <a:pPr/>
              <a:t>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0E451F-E304-4366-A9A6-D6FD3FFFC14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53616A-FAA4-4869-B2C2-65AC1B203CA0}" type="datetimeFigureOut">
              <a:rPr lang="en-US" smtClean="0"/>
              <a:pPr/>
              <a:t>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0E451F-E304-4366-A9A6-D6FD3FFFC14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53616A-FAA4-4869-B2C2-65AC1B203CA0}" type="datetimeFigureOut">
              <a:rPr lang="en-US" smtClean="0"/>
              <a:pPr/>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E451F-E304-4366-A9A6-D6FD3FFFC14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53616A-FAA4-4869-B2C2-65AC1B203CA0}" type="datetimeFigureOut">
              <a:rPr lang="en-US" smtClean="0"/>
              <a:pPr/>
              <a:t>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E451F-E304-4366-A9A6-D6FD3FFFC14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53616A-FAA4-4869-B2C2-65AC1B203CA0}" type="datetimeFigureOut">
              <a:rPr lang="en-US" smtClean="0"/>
              <a:pPr/>
              <a:t>1/4/2023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0E451F-E304-4366-A9A6-D6FD3FFFC14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Tableau Products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Four Key Attributes to download Tableau products</a:t>
            </a:r>
            <a:endParaRPr lang="en-US" b="1"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Connectivity</a:t>
            </a:r>
          </a:p>
          <a:p>
            <a:r>
              <a:rPr lang="en-US" dirty="0" smtClean="0"/>
              <a:t>What data sources do you need to access?</a:t>
            </a:r>
          </a:p>
          <a:p>
            <a:pPr>
              <a:buNone/>
            </a:pPr>
            <a:r>
              <a:rPr lang="en-US" b="1" dirty="0" smtClean="0"/>
              <a:t>Distribution</a:t>
            </a:r>
          </a:p>
          <a:p>
            <a:r>
              <a:rPr lang="en-US" dirty="0" smtClean="0"/>
              <a:t>Who do you want to see your dashboard and how will you share it with them?</a:t>
            </a:r>
          </a:p>
          <a:p>
            <a:pPr>
              <a:buNone/>
            </a:pPr>
            <a:r>
              <a:rPr lang="en-US" b="1" dirty="0" smtClean="0"/>
              <a:t>Automation</a:t>
            </a:r>
          </a:p>
          <a:p>
            <a:r>
              <a:rPr lang="en-US" dirty="0" smtClean="0"/>
              <a:t>Do you need your work to update automatically on a refresh schedule?</a:t>
            </a:r>
          </a:p>
          <a:p>
            <a:pPr>
              <a:buNone/>
            </a:pPr>
            <a:r>
              <a:rPr lang="en-US" b="1" dirty="0" smtClean="0"/>
              <a:t>Security</a:t>
            </a:r>
          </a:p>
          <a:p>
            <a:r>
              <a:rPr lang="en-US" dirty="0" smtClean="0"/>
              <a:t>Do you require an on-premise level of security or can your work be saved in the cloud?</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Tableau Products</a:t>
            </a:r>
            <a:endParaRPr lang="en-US" b="1" dirty="0"/>
          </a:p>
        </p:txBody>
      </p:sp>
      <p:sp>
        <p:nvSpPr>
          <p:cNvPr id="3" name="Content Placeholder 2"/>
          <p:cNvSpPr>
            <a:spLocks noGrp="1"/>
          </p:cNvSpPr>
          <p:nvPr>
            <p:ph idx="1"/>
          </p:nvPr>
        </p:nvSpPr>
        <p:spPr/>
        <p:txBody>
          <a:bodyPr>
            <a:normAutofit fontScale="77500" lnSpcReduction="20000"/>
          </a:bodyPr>
          <a:lstStyle/>
          <a:p>
            <a:r>
              <a:rPr lang="en-US" dirty="0" smtClean="0"/>
              <a:t>Let us broadly classify Tableau tools into the following categories:</a:t>
            </a:r>
          </a:p>
          <a:p>
            <a:r>
              <a:rPr lang="en-US" b="1" dirty="0" smtClean="0"/>
              <a:t>Developer tools</a:t>
            </a:r>
            <a:r>
              <a:rPr lang="en-US" dirty="0" smtClean="0"/>
              <a:t> (</a:t>
            </a:r>
            <a:r>
              <a:rPr lang="en-US" b="1" dirty="0" smtClean="0">
                <a:solidFill>
                  <a:srgbClr val="00B050"/>
                </a:solidFill>
              </a:rPr>
              <a:t>Tableau Desktop and Tableau Public</a:t>
            </a:r>
            <a:r>
              <a:rPr lang="en-US" dirty="0" smtClean="0"/>
              <a:t>)</a:t>
            </a:r>
          </a:p>
          <a:p>
            <a:r>
              <a:rPr lang="en-US" b="1" dirty="0" smtClean="0"/>
              <a:t>Sharing tools </a:t>
            </a:r>
            <a:r>
              <a:rPr lang="en-US" dirty="0" smtClean="0"/>
              <a:t>(</a:t>
            </a:r>
            <a:r>
              <a:rPr lang="en-US" b="1" dirty="0" smtClean="0">
                <a:solidFill>
                  <a:srgbClr val="00B050"/>
                </a:solidFill>
              </a:rPr>
              <a:t>Tableau Server, Tableau Online, Tableau Reader</a:t>
            </a:r>
            <a:r>
              <a:rPr lang="en-US" dirty="0" smtClean="0"/>
              <a:t>)</a:t>
            </a:r>
          </a:p>
          <a:p>
            <a:r>
              <a:rPr lang="en-US" dirty="0" smtClean="0"/>
              <a:t>Developer tools will help you create a visualization and/or dashboards.</a:t>
            </a:r>
          </a:p>
          <a:p>
            <a:r>
              <a:rPr lang="en-US" dirty="0" smtClean="0"/>
              <a:t>Sharing tools facilitate the following visualization and/or dashboards tasks:</a:t>
            </a:r>
          </a:p>
          <a:p>
            <a:pPr lvl="1"/>
            <a:r>
              <a:rPr lang="en-US" dirty="0" smtClean="0"/>
              <a:t>Viewing</a:t>
            </a:r>
          </a:p>
          <a:p>
            <a:pPr lvl="1"/>
            <a:r>
              <a:rPr lang="en-US" dirty="0" smtClean="0"/>
              <a:t>Sharing</a:t>
            </a:r>
          </a:p>
          <a:p>
            <a:pPr lvl="1"/>
            <a:r>
              <a:rPr lang="en-US" dirty="0" smtClean="0"/>
              <a:t>Interacting</a:t>
            </a:r>
          </a:p>
          <a:p>
            <a:pPr lvl="1"/>
            <a:r>
              <a:rPr lang="en-US" dirty="0" smtClean="0"/>
              <a:t>Exploring</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0" y="708922"/>
            <a:ext cx="9296400" cy="4354409"/>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0" y="762000"/>
            <a:ext cx="8750659" cy="47244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1" y="1143000"/>
            <a:ext cx="9027539" cy="33528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rPr>
              <a:t>1. Tableau Desktop</a:t>
            </a:r>
            <a:endParaRPr lang="en-US" dirty="0"/>
          </a:p>
        </p:txBody>
      </p:sp>
      <p:sp>
        <p:nvSpPr>
          <p:cNvPr id="3" name="Content Placeholder 2"/>
          <p:cNvSpPr>
            <a:spLocks noGrp="1"/>
          </p:cNvSpPr>
          <p:nvPr>
            <p:ph idx="1"/>
          </p:nvPr>
        </p:nvSpPr>
        <p:spPr>
          <a:xfrm>
            <a:off x="457200" y="1447800"/>
            <a:ext cx="8229600" cy="4525963"/>
          </a:xfrm>
        </p:spPr>
        <p:txBody>
          <a:bodyPr/>
          <a:lstStyle/>
          <a:p>
            <a:r>
              <a:rPr lang="en-US" dirty="0" smtClean="0"/>
              <a:t>Tableau Desktop is available in two versions:</a:t>
            </a:r>
          </a:p>
          <a:p>
            <a:pPr lvl="1"/>
            <a:r>
              <a:rPr lang="en-US" dirty="0" smtClean="0"/>
              <a:t>Professional</a:t>
            </a:r>
          </a:p>
          <a:p>
            <a:pPr lvl="1"/>
            <a:r>
              <a:rPr lang="en-US" dirty="0" smtClean="0"/>
              <a:t>Personal</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B050"/>
                </a:solidFill>
              </a:rPr>
              <a:t>1.1. Tableau Desktop: Personal</a:t>
            </a:r>
            <a:br>
              <a:rPr lang="en-US" b="1" dirty="0" smtClean="0">
                <a:solidFill>
                  <a:srgbClr val="00B050"/>
                </a:solidFill>
              </a:rPr>
            </a:br>
            <a:endParaRPr lang="en-US" b="1" dirty="0">
              <a:solidFill>
                <a:srgbClr val="00B050"/>
              </a:solidFill>
            </a:endParaRPr>
          </a:p>
        </p:txBody>
      </p:sp>
      <p:sp>
        <p:nvSpPr>
          <p:cNvPr id="3" name="Content Placeholder 2"/>
          <p:cNvSpPr>
            <a:spLocks noGrp="1"/>
          </p:cNvSpPr>
          <p:nvPr>
            <p:ph idx="1"/>
          </p:nvPr>
        </p:nvSpPr>
        <p:spPr/>
        <p:txBody>
          <a:bodyPr>
            <a:normAutofit fontScale="77500" lnSpcReduction="20000"/>
          </a:bodyPr>
          <a:lstStyle/>
          <a:p>
            <a:r>
              <a:rPr lang="en-US" dirty="0" smtClean="0"/>
              <a:t>Tableau Desktop: Personal is the entry point for the paid development versions of the software. </a:t>
            </a:r>
          </a:p>
          <a:p>
            <a:r>
              <a:rPr lang="en-US" dirty="0" smtClean="0"/>
              <a:t>It allows you to keep your workbooks private, but connection and distribution options are limited.</a:t>
            </a:r>
          </a:p>
          <a:p>
            <a:r>
              <a:rPr lang="en-US" b="1" dirty="0" smtClean="0"/>
              <a:t>Connectivity -</a:t>
            </a:r>
            <a:r>
              <a:rPr lang="en-US" dirty="0" smtClean="0"/>
              <a:t> Excel, text files, Access, statistical files, shape files, spatial files, and Tableau files</a:t>
            </a:r>
          </a:p>
          <a:p>
            <a:r>
              <a:rPr lang="en-US" b="1" dirty="0" smtClean="0"/>
              <a:t>Distribution -</a:t>
            </a:r>
            <a:r>
              <a:rPr lang="en-US" dirty="0" smtClean="0"/>
              <a:t> Offline or Tableau Public</a:t>
            </a:r>
          </a:p>
          <a:p>
            <a:r>
              <a:rPr lang="en-US" b="1" dirty="0" smtClean="0"/>
              <a:t>Automation -</a:t>
            </a:r>
            <a:r>
              <a:rPr lang="en-US" dirty="0" smtClean="0"/>
              <a:t>  Not available</a:t>
            </a:r>
          </a:p>
          <a:p>
            <a:r>
              <a:rPr lang="en-US" b="1" dirty="0" smtClean="0"/>
              <a:t>Security  -</a:t>
            </a:r>
            <a:r>
              <a:rPr lang="en-US" dirty="0" smtClean="0"/>
              <a:t> As good as your personal computer/server’s security</a:t>
            </a:r>
          </a:p>
          <a:p>
            <a:r>
              <a:rPr lang="en-US" b="1" dirty="0" smtClean="0"/>
              <a:t>Best for -</a:t>
            </a:r>
            <a:r>
              <a:rPr lang="en-US" dirty="0" smtClean="0"/>
              <a:t> Those that only need to connect to flat data files; those that need the most cost-effective version that will keep their data private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B050"/>
                </a:solidFill>
              </a:rPr>
              <a:t>1.2 Tableau Desktop: Professional</a:t>
            </a:r>
            <a:br>
              <a:rPr lang="en-US" b="1" dirty="0" smtClean="0">
                <a:solidFill>
                  <a:srgbClr val="00B050"/>
                </a:solidFill>
              </a:rPr>
            </a:br>
            <a:endParaRPr lang="en-US" b="1" dirty="0">
              <a:solidFill>
                <a:srgbClr val="00B050"/>
              </a:solidFill>
            </a:endParaRPr>
          </a:p>
        </p:txBody>
      </p:sp>
      <p:sp>
        <p:nvSpPr>
          <p:cNvPr id="3" name="Content Placeholder 2"/>
          <p:cNvSpPr>
            <a:spLocks noGrp="1"/>
          </p:cNvSpPr>
          <p:nvPr>
            <p:ph idx="1"/>
          </p:nvPr>
        </p:nvSpPr>
        <p:spPr/>
        <p:txBody>
          <a:bodyPr>
            <a:normAutofit fontScale="70000" lnSpcReduction="20000"/>
          </a:bodyPr>
          <a:lstStyle/>
          <a:p>
            <a:r>
              <a:rPr lang="en-US" dirty="0" smtClean="0"/>
              <a:t>Tableau Desktop: Professional is similar to Tableau Desktop: Personal in that it is a development version of Tableau. </a:t>
            </a:r>
          </a:p>
          <a:p>
            <a:r>
              <a:rPr lang="en-US" dirty="0" smtClean="0"/>
              <a:t>Both the Personal and Professional versions have all of the same development capabilities, but the Professional version provides full access to every data type and distribution channel currently available in the software.</a:t>
            </a:r>
          </a:p>
          <a:p>
            <a:r>
              <a:rPr lang="en-US" b="1" dirty="0" smtClean="0"/>
              <a:t>Connectivity</a:t>
            </a:r>
            <a:r>
              <a:rPr lang="en-US" dirty="0" smtClean="0"/>
              <a:t> - All possible connections in Tableau</a:t>
            </a:r>
          </a:p>
          <a:p>
            <a:r>
              <a:rPr lang="en-US" b="1" dirty="0" smtClean="0"/>
              <a:t>Distribution</a:t>
            </a:r>
            <a:r>
              <a:rPr lang="en-US" dirty="0" smtClean="0"/>
              <a:t> - Offline, Tableau Server, or Tableau Public (all possible distribution options in Tableau)</a:t>
            </a:r>
          </a:p>
          <a:p>
            <a:r>
              <a:rPr lang="en-US" b="1" dirty="0" smtClean="0"/>
              <a:t>Automation</a:t>
            </a:r>
            <a:r>
              <a:rPr lang="en-US" dirty="0" smtClean="0"/>
              <a:t> -  Not available</a:t>
            </a:r>
          </a:p>
          <a:p>
            <a:r>
              <a:rPr lang="en-US" b="1" dirty="0" smtClean="0"/>
              <a:t>Security</a:t>
            </a:r>
            <a:r>
              <a:rPr lang="en-US" dirty="0" smtClean="0"/>
              <a:t> - As good as your personal computer/server’s security</a:t>
            </a:r>
          </a:p>
          <a:p>
            <a:r>
              <a:rPr lang="en-US" b="1" dirty="0" smtClean="0"/>
              <a:t>Best for</a:t>
            </a:r>
            <a:r>
              <a:rPr lang="en-US" dirty="0" smtClean="0"/>
              <a:t> - Those that need to connect to data in databases; those that need the capability to publish to Tableau Server</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rPr>
              <a:t>2. Tableau Public</a:t>
            </a:r>
            <a:endParaRPr lang="en-US" b="1" dirty="0">
              <a:solidFill>
                <a:srgbClr val="00B050"/>
              </a:solidFill>
            </a:endParaRPr>
          </a:p>
        </p:txBody>
      </p:sp>
      <p:sp>
        <p:nvSpPr>
          <p:cNvPr id="3" name="Content Placeholder 2"/>
          <p:cNvSpPr>
            <a:spLocks noGrp="1"/>
          </p:cNvSpPr>
          <p:nvPr>
            <p:ph idx="1"/>
          </p:nvPr>
        </p:nvSpPr>
        <p:spPr/>
        <p:txBody>
          <a:bodyPr>
            <a:normAutofit fontScale="55000" lnSpcReduction="20000"/>
          </a:bodyPr>
          <a:lstStyle/>
          <a:p>
            <a:endParaRPr lang="en-US" dirty="0" smtClean="0"/>
          </a:p>
          <a:p>
            <a:r>
              <a:rPr lang="en-US" sz="3500" dirty="0" smtClean="0"/>
              <a:t>Tableau Public is another free download, but this product actually provides development capabilities. </a:t>
            </a:r>
          </a:p>
          <a:p>
            <a:r>
              <a:rPr lang="en-US" sz="3500" dirty="0" smtClean="0"/>
              <a:t>The catch is that the workbooks have to be saved to Tableau’s public cloud, making this an unsuitable choice for proprietary business data.</a:t>
            </a:r>
          </a:p>
          <a:p>
            <a:r>
              <a:rPr lang="en-US" sz="3500" b="1" dirty="0" smtClean="0"/>
              <a:t>Connectivity</a:t>
            </a:r>
            <a:r>
              <a:rPr lang="en-US" sz="3500" dirty="0" smtClean="0"/>
              <a:t> - Excel, text files</a:t>
            </a:r>
          </a:p>
          <a:p>
            <a:r>
              <a:rPr lang="en-US" sz="3500" b="1" dirty="0" smtClean="0"/>
              <a:t>Distribution -</a:t>
            </a:r>
            <a:r>
              <a:rPr lang="en-US" sz="3500" dirty="0" smtClean="0"/>
              <a:t> Cloud (Public)</a:t>
            </a:r>
          </a:p>
          <a:p>
            <a:r>
              <a:rPr lang="en-US" sz="3500" b="1" dirty="0" smtClean="0"/>
              <a:t>Automation </a:t>
            </a:r>
            <a:r>
              <a:rPr lang="en-US" sz="3500" dirty="0" smtClean="0"/>
              <a:t>- Not available</a:t>
            </a:r>
          </a:p>
          <a:p>
            <a:r>
              <a:rPr lang="en-US" sz="3500" b="1" dirty="0" smtClean="0"/>
              <a:t>Security</a:t>
            </a:r>
            <a:r>
              <a:rPr lang="en-US" sz="3500" dirty="0" smtClean="0"/>
              <a:t> - Limited; your workbooks are potentially accessible by anyone on the web, but you are able to restrict the ability for someone to download your files</a:t>
            </a:r>
          </a:p>
          <a:p>
            <a:r>
              <a:rPr lang="en-US" sz="3500" b="1" dirty="0" smtClean="0"/>
              <a:t>Best for </a:t>
            </a:r>
            <a:r>
              <a:rPr lang="en-US" sz="3500" dirty="0" smtClean="0"/>
              <a:t>-  Journalists; sharing publicly available data (and Tableau know-how) with the world; practicing Tableau for free; trying the software</a:t>
            </a:r>
            <a:endParaRPr lang="en-US" sz="3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solidFill>
                  <a:srgbClr val="00B050"/>
                </a:solidFill>
              </a:rPr>
              <a:t>3. Tableau Server</a:t>
            </a:r>
            <a:endParaRPr lang="en-US" b="1" dirty="0">
              <a:solidFill>
                <a:srgbClr val="00B050"/>
              </a:solidFill>
            </a:endParaRPr>
          </a:p>
        </p:txBody>
      </p:sp>
      <p:sp>
        <p:nvSpPr>
          <p:cNvPr id="3" name="Content Placeholder 2"/>
          <p:cNvSpPr>
            <a:spLocks noGrp="1"/>
          </p:cNvSpPr>
          <p:nvPr>
            <p:ph idx="1"/>
          </p:nvPr>
        </p:nvSpPr>
        <p:spPr>
          <a:xfrm>
            <a:off x="457200" y="1219200"/>
            <a:ext cx="8534400" cy="4906963"/>
          </a:xfrm>
        </p:spPr>
        <p:txBody>
          <a:bodyPr>
            <a:normAutofit fontScale="62500" lnSpcReduction="20000"/>
          </a:bodyPr>
          <a:lstStyle/>
          <a:p>
            <a:endParaRPr lang="en-US" dirty="0" smtClean="0"/>
          </a:p>
          <a:p>
            <a:r>
              <a:rPr lang="en-US" dirty="0" smtClean="0"/>
              <a:t>Tableau Server provides a central repository for all of your Tableau workbooks that can be accessed by your business users via a web browser. </a:t>
            </a:r>
          </a:p>
          <a:p>
            <a:r>
              <a:rPr lang="en-US" dirty="0" smtClean="0"/>
              <a:t>Tableau Server also has the advantage of data refresh capabilities as well as a way for your organization to keep its data and workbooks on premise in the case that your organization requires that level of security. </a:t>
            </a:r>
          </a:p>
          <a:p>
            <a:r>
              <a:rPr lang="en-US" dirty="0" smtClean="0"/>
              <a:t>Tableau Server requires additional user licenses, even if you already have a Tableau Desktop license.</a:t>
            </a:r>
          </a:p>
          <a:p>
            <a:r>
              <a:rPr lang="en-US" b="1" dirty="0" smtClean="0"/>
              <a:t>Connectivity -</a:t>
            </a:r>
            <a:r>
              <a:rPr lang="en-US" dirty="0" smtClean="0"/>
              <a:t> Workbooks that have been published to Tableau Server and that you have been granted access to</a:t>
            </a:r>
          </a:p>
          <a:p>
            <a:r>
              <a:rPr lang="en-US" b="1" dirty="0" smtClean="0"/>
              <a:t>Distribution - </a:t>
            </a:r>
            <a:r>
              <a:rPr lang="en-US" dirty="0" smtClean="0"/>
              <a:t>On-premise or cloud</a:t>
            </a:r>
          </a:p>
          <a:p>
            <a:r>
              <a:rPr lang="en-US" b="1" dirty="0" smtClean="0"/>
              <a:t>Automation - </a:t>
            </a:r>
            <a:r>
              <a:rPr lang="en-US" dirty="0" smtClean="0"/>
              <a:t> Available via data refresh schedules</a:t>
            </a:r>
          </a:p>
          <a:p>
            <a:r>
              <a:rPr lang="en-US" b="1" dirty="0" smtClean="0"/>
              <a:t>Security -</a:t>
            </a:r>
            <a:r>
              <a:rPr lang="en-US" dirty="0" smtClean="0"/>
              <a:t> As good as your on-premise or server host’s security</a:t>
            </a:r>
          </a:p>
          <a:p>
            <a:r>
              <a:rPr lang="en-US" b="1" dirty="0" smtClean="0"/>
              <a:t>Best for -</a:t>
            </a:r>
            <a:r>
              <a:rPr lang="en-US" dirty="0" smtClean="0"/>
              <a:t>  Those that need to access/distribute workbooks in the cloud; those that want to automate workbook refreshes; those that want to edit workbooks in the cloud (limited capability); those that need to keep their data and workbooks on premise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rPr>
              <a:t>4. Tableau Online</a:t>
            </a:r>
            <a:endParaRPr lang="en-US" b="1" dirty="0">
              <a:solidFill>
                <a:srgbClr val="00B050"/>
              </a:solidFill>
            </a:endParaRPr>
          </a:p>
        </p:txBody>
      </p:sp>
      <p:sp>
        <p:nvSpPr>
          <p:cNvPr id="3" name="Content Placeholder 2"/>
          <p:cNvSpPr>
            <a:spLocks noGrp="1"/>
          </p:cNvSpPr>
          <p:nvPr>
            <p:ph idx="1"/>
          </p:nvPr>
        </p:nvSpPr>
        <p:spPr/>
        <p:txBody>
          <a:bodyPr>
            <a:normAutofit fontScale="62500" lnSpcReduction="20000"/>
          </a:bodyPr>
          <a:lstStyle/>
          <a:p>
            <a:endParaRPr lang="en-US" dirty="0" smtClean="0"/>
          </a:p>
          <a:p>
            <a:r>
              <a:rPr lang="en-US" dirty="0" smtClean="0"/>
              <a:t>Tableau Online is similar to Tableau Server, but it is hosted via a third-party partner of Tableau. </a:t>
            </a:r>
          </a:p>
          <a:p>
            <a:r>
              <a:rPr lang="en-US" dirty="0" smtClean="0"/>
              <a:t>This product still has the advantages of cloud distribution and automatic refreshes, but it is hosted off premise, which can result in security challenges for certain organizations. </a:t>
            </a:r>
          </a:p>
          <a:p>
            <a:r>
              <a:rPr lang="en-US" dirty="0" smtClean="0"/>
              <a:t>Like Tableau Server, Tableau Online requires additional per-user licensing, even if those users already have access to Tableau Desktop.</a:t>
            </a:r>
          </a:p>
          <a:p>
            <a:r>
              <a:rPr lang="en-US" b="1" dirty="0" smtClean="0"/>
              <a:t>Connectivity  </a:t>
            </a:r>
            <a:r>
              <a:rPr lang="en-US" dirty="0" smtClean="0"/>
              <a:t>- Workbooks that have been published to Tableau Online and that you have been granted access to Distribution Cloud</a:t>
            </a:r>
          </a:p>
          <a:p>
            <a:r>
              <a:rPr lang="en-US" b="1" dirty="0" smtClean="0"/>
              <a:t>Automation  -</a:t>
            </a:r>
            <a:r>
              <a:rPr lang="en-US" dirty="0" smtClean="0"/>
              <a:t> Available via data refresh schedules</a:t>
            </a:r>
          </a:p>
          <a:p>
            <a:r>
              <a:rPr lang="en-US" b="1" dirty="0" smtClean="0"/>
              <a:t>Security -</a:t>
            </a:r>
            <a:r>
              <a:rPr lang="en-US" dirty="0" smtClean="0"/>
              <a:t>  As good as Tableau’s third-party host</a:t>
            </a:r>
          </a:p>
          <a:p>
            <a:r>
              <a:rPr lang="en-US" b="1" dirty="0" smtClean="0"/>
              <a:t>Best for -</a:t>
            </a:r>
            <a:r>
              <a:rPr lang="en-US" dirty="0" smtClean="0"/>
              <a:t> Those that need to access/distribute workbooks in the cloud; those that want to automate workbook refreshes; those that want to edit workbooks in the cloud (limited capability); those that are having their data and workbooks hosted off premise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B050"/>
                </a:solidFill>
              </a:rPr>
              <a:t>5. Tableau Reader</a:t>
            </a:r>
            <a:br>
              <a:rPr lang="en-US" b="1" dirty="0" smtClean="0">
                <a:solidFill>
                  <a:srgbClr val="00B050"/>
                </a:solidFill>
              </a:rPr>
            </a:br>
            <a:endParaRPr lang="en-US" b="1" dirty="0">
              <a:solidFill>
                <a:srgbClr val="00B050"/>
              </a:solidFill>
            </a:endParaRPr>
          </a:p>
        </p:txBody>
      </p:sp>
      <p:sp>
        <p:nvSpPr>
          <p:cNvPr id="3" name="Content Placeholder 2"/>
          <p:cNvSpPr>
            <a:spLocks noGrp="1"/>
          </p:cNvSpPr>
          <p:nvPr>
            <p:ph idx="1"/>
          </p:nvPr>
        </p:nvSpPr>
        <p:spPr>
          <a:xfrm>
            <a:off x="228600" y="1066800"/>
            <a:ext cx="8458200" cy="5486400"/>
          </a:xfrm>
        </p:spPr>
        <p:txBody>
          <a:bodyPr>
            <a:normAutofit fontScale="70000" lnSpcReduction="20000"/>
          </a:bodyPr>
          <a:lstStyle/>
          <a:p>
            <a:pPr algn="just"/>
            <a:r>
              <a:rPr lang="en-US" dirty="0" smtClean="0"/>
              <a:t>Tableau Reader is a free download that allows you to open “packaged workbooks,” which are Tableau workbooks that are saved in a special way by Tableau Desktop users so the data and visualizations are in the same file. </a:t>
            </a:r>
          </a:p>
          <a:p>
            <a:pPr algn="just"/>
            <a:r>
              <a:rPr lang="en-US" dirty="0" smtClean="0"/>
              <a:t>Tableau Reader allows you to open and interact with Tableau workbooks, but not develop them. </a:t>
            </a:r>
          </a:p>
          <a:p>
            <a:pPr algn="just"/>
            <a:r>
              <a:rPr lang="en-US" dirty="0" smtClean="0"/>
              <a:t>Development</a:t>
            </a:r>
            <a:r>
              <a:rPr lang="en-US" dirty="0"/>
              <a:t> </a:t>
            </a:r>
            <a:r>
              <a:rPr lang="en-US" dirty="0" smtClean="0"/>
              <a:t>capabilities could be considered an obvious fifth key attribute, but as Tableau Reader is the only product listed that does not provide these capabilities, This product works much like a PDF viewer, where a developer of a document saves it in a certain way so that it can be opened by a PDF reader.</a:t>
            </a:r>
          </a:p>
          <a:p>
            <a:r>
              <a:rPr lang="en-US" b="1" dirty="0" smtClean="0"/>
              <a:t>Connectivity -</a:t>
            </a:r>
            <a:r>
              <a:rPr lang="en-US" dirty="0" smtClean="0"/>
              <a:t> .</a:t>
            </a:r>
            <a:r>
              <a:rPr lang="en-US" dirty="0" err="1" smtClean="0"/>
              <a:t>twbx</a:t>
            </a:r>
            <a:r>
              <a:rPr lang="en-US" dirty="0" smtClean="0"/>
              <a:t> files only (packaged workbooks)</a:t>
            </a:r>
          </a:p>
          <a:p>
            <a:r>
              <a:rPr lang="en-US" b="1" dirty="0" smtClean="0"/>
              <a:t>Distribution -</a:t>
            </a:r>
            <a:r>
              <a:rPr lang="en-US" dirty="0" smtClean="0"/>
              <a:t> Offline</a:t>
            </a:r>
          </a:p>
          <a:p>
            <a:r>
              <a:rPr lang="en-US" b="1" dirty="0" smtClean="0"/>
              <a:t>Automation -</a:t>
            </a:r>
            <a:r>
              <a:rPr lang="en-US" dirty="0" smtClean="0"/>
              <a:t> Not available</a:t>
            </a:r>
          </a:p>
          <a:p>
            <a:r>
              <a:rPr lang="en-US" b="1" dirty="0" smtClean="0"/>
              <a:t>Security -</a:t>
            </a:r>
            <a:r>
              <a:rPr lang="en-US" dirty="0" smtClean="0"/>
              <a:t>  As good as your personal computer/server’s security</a:t>
            </a:r>
          </a:p>
          <a:p>
            <a:r>
              <a:rPr lang="en-US" b="1" dirty="0" smtClean="0"/>
              <a:t>Best for -</a:t>
            </a:r>
            <a:r>
              <a:rPr lang="en-US" dirty="0" smtClean="0"/>
              <a:t>  People that need an affordable way to view and interact with colleagues’ Tableau workbooks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976</Words>
  <Application>Microsoft Office PowerPoint</Application>
  <PresentationFormat>On-screen Show (4:3)</PresentationFormat>
  <Paragraphs>77</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Tableau Products</vt:lpstr>
      <vt:lpstr>Four Key Attributes to download Tableau products</vt:lpstr>
      <vt:lpstr>Tableau Products</vt:lpstr>
      <vt:lpstr>Slide 4</vt:lpstr>
      <vt:lpstr>Slide 5</vt:lpstr>
      <vt:lpstr>Slide 6</vt:lpstr>
      <vt:lpstr>1. Tableau Desktop</vt:lpstr>
      <vt:lpstr>1.1. Tableau Desktop: Personal </vt:lpstr>
      <vt:lpstr>1.2 Tableau Desktop: Professional </vt:lpstr>
      <vt:lpstr>2. Tableau Public</vt:lpstr>
      <vt:lpstr>3. Tableau Server</vt:lpstr>
      <vt:lpstr>4. Tableau Online</vt:lpstr>
      <vt:lpstr>5. Tableau Reader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ACER</dc:creator>
  <cp:lastModifiedBy>AI&amp;DS</cp:lastModifiedBy>
  <cp:revision>11</cp:revision>
  <dcterms:created xsi:type="dcterms:W3CDTF">2023-01-03T15:38:15Z</dcterms:created>
  <dcterms:modified xsi:type="dcterms:W3CDTF">2023-01-04T03:30:37Z</dcterms:modified>
</cp:coreProperties>
</file>